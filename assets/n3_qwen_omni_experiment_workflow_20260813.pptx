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e6b36632943e7" /><Relationship Type="http://schemas.openxmlformats.org/officeDocument/2006/relationships/extended-properties" Target="/docProps/app.xml" Id="Recbd2a36958c4c6d" /><Relationship Type="http://schemas.openxmlformats.org/officeDocument/2006/relationships/officeDocument" Target="/ppt/presentation.xml" Id="Rb8faf1365a9b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080b949cec47a0"/>
  </p:sldMasterIdLst>
  <p:notesMasterIdLst>
    <p:notesMasterId xmlns:r="http://schemas.openxmlformats.org/officeDocument/2006/relationships" r:id="R3d86dda234e64983"/>
  </p:notesMasterIdLst>
  <p:sldIdLst>
    <p:sldId xmlns:r="http://schemas.openxmlformats.org/officeDocument/2006/relationships" id="256" r:id="R5d1eb07202c944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287c7415441e4" /><Relationship Type="http://schemas.openxmlformats.org/officeDocument/2006/relationships/slideMaster" Target="/ppt/slideMasters/slideMaster1.xml" Id="R25080b949cec47a0" /><Relationship Type="http://schemas.openxmlformats.org/officeDocument/2006/relationships/notesMaster" Target="/ppt/notesMasters/notesMaster1.xml" Id="R3d86dda234e64983" /><Relationship Type="http://schemas.openxmlformats.org/officeDocument/2006/relationships/presProps" Target="/ppt/presProps.xml" Id="Rb93940d23012446f" /><Relationship Type="http://schemas.openxmlformats.org/officeDocument/2006/relationships/tableStyles" Target="/ppt/tableStyles.xml" Id="R7b78e5781c934f21" /><Relationship Type="http://schemas.openxmlformats.org/officeDocument/2006/relationships/slide" Target="/ppt/slides/slide1.xml" Id="R5d1eb07202c9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bbb6d9060f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75ca7747e48dd" /><Relationship Type="http://schemas.openxmlformats.org/officeDocument/2006/relationships/notesMaster" Target="/ppt/notesMasters/notesMaster1.xml" Id="Rba81ec08a96e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target experiment protocol and repository audit, 2026-08-14; no external visual assets.</a:t>
            </a:r>
          </a:p>
          <a:p xmlns:a="http://schemas.openxmlformats.org/drawingml/2006/main">
            <a:r>
              <a:t>Semantics frozen for this figure: x→e→z separation; A0 current-only and no-parameter A1 plain-history; all learnable state-producer upstream group-OOF from frozen e; strict-past a_k; R_k^0→phi_k→R_k; S_set≠R_set bidirectional utility; phi_k and R_k directly condition both gates; hard switch to independent A0; train/dev/test-or-outer gold roles never enter forward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f71f71c6b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a61e088e14784" /><Relationship Type="http://schemas.openxmlformats.org/officeDocument/2006/relationships/slideLayout" Target="/ppt/slideLayouts/slideLayout1.xml" Id="Re3266ae2cb16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66ae2cb16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7af668f7c434c" /><Relationship Type="http://schemas.openxmlformats.org/officeDocument/2006/relationships/notesSlide" Target="/ppt/notesSlides/notesSlide1.xml" Id="R77210eeeef6943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title">
            <a:extLst xmlns:a="http://schemas.openxmlformats.org/drawingml/2006/main">
              <a:ext uri="{FF2B5EF4-FFF2-40B4-BE49-F238E27FC236}">
                <a16:creationId xmlns:a16="http://schemas.microsoft.com/office/drawing/2014/main" id="{B2CCC6A6-7F65-46AF-BF7D-EFABF524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5250"/>
            <a:ext cx="1158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冻结 Qwen 三模态表征 → 情感状态与动力学 → N3 双向效用门控 → 情绪分类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743D20-FB9A-431A-9ED1-D8A8140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目标协议：原始媒体 x、Qwen hidden e、N3 输入 z 严格分层；K=3 候选轴贯穿完整 Phase B</a:t>
            </a:r>
          </a:p>
        </p:txBody>
      </p:sp>
      <p:sp>
        <p:nvSpPr>
          <p:cNvPr id="3" name="status">
            <a:extLst xmlns:a="http://schemas.openxmlformats.org/drawingml/2006/main">
              <a:ext uri="{FF2B5EF4-FFF2-40B4-BE49-F238E27FC236}">
                <a16:creationId xmlns:a16="http://schemas.microsoft.com/office/drawing/2014/main" id="{AEEE7074-AA23-4EE4-9C29-3E0ABE0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4350"/>
            <a:ext cx="29718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3335">
            <a:solidFill>
              <a:srgbClr val="D92D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目标协议 · 当前代码尚待实现</a:t>
            </a:r>
          </a:p>
        </p:txBody>
      </p:sp>
      <p:sp>
        <p:nvSpPr>
          <p:cNvPr id="4" name="phaseA">
            <a:extLst xmlns:a="http://schemas.openxmlformats.org/drawingml/2006/main">
              <a:ext uri="{FF2B5EF4-FFF2-40B4-BE49-F238E27FC236}">
                <a16:creationId xmlns:a16="http://schemas.microsoft.com/office/drawing/2014/main" id="{AFAB6086-8463-4E08-BFEF-ECE60D43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38200"/>
            <a:ext cx="4229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PHASE A｜x → e → z → 独立 A0 / 朴素 A1（CE-only）</a:t>
            </a:r>
          </a:p>
        </p:txBody>
      </p:sp>
      <p:sp>
        <p:nvSpPr>
          <p:cNvPr id="5" name="phaseB">
            <a:extLst xmlns:a="http://schemas.openxmlformats.org/drawingml/2006/main">
              <a:ext uri="{FF2B5EF4-FFF2-40B4-BE49-F238E27FC236}">
                <a16:creationId xmlns:a16="http://schemas.microsoft.com/office/drawing/2014/main" id="{9389FEEE-CD83-4BF9-AB58-B72C573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38200"/>
            <a:ext cx="7200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PHASE B｜预测状态 aₖ + 基础 Rₖ⁰ → φₖ → 条件关系 / 效用 / 两级门控</a:t>
            </a:r>
          </a:p>
        </p:txBody>
      </p:sp>
      <p:sp>
        <p:nvSpPr>
          <p:cNvPr id="6" name="panel1">
            <a:extLst xmlns:a="http://schemas.openxmlformats.org/drawingml/2006/main">
              <a:ext uri="{FF2B5EF4-FFF2-40B4-BE49-F238E27FC236}">
                <a16:creationId xmlns:a16="http://schemas.microsoft.com/office/drawing/2014/main" id="{C8FBE7DD-EDEF-4311-A197-7951E791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76350"/>
            <a:ext cx="1581150" cy="41148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7" name="panel2">
            <a:extLst xmlns:a="http://schemas.openxmlformats.org/drawingml/2006/main">
              <a:ext uri="{FF2B5EF4-FFF2-40B4-BE49-F238E27FC236}">
                <a16:creationId xmlns:a16="http://schemas.microsoft.com/office/drawing/2014/main" id="{635AB337-759D-4E43-8634-CA66CEFF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76350"/>
            <a:ext cx="2095500" cy="41148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8" name="panel3">
            <a:extLst xmlns:a="http://schemas.openxmlformats.org/drawingml/2006/main">
              <a:ext uri="{FF2B5EF4-FFF2-40B4-BE49-F238E27FC236}">
                <a16:creationId xmlns:a16="http://schemas.microsoft.com/office/drawing/2014/main" id="{446AAE8C-37DE-4C6D-BC26-077AD3D6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276350"/>
            <a:ext cx="2305050" cy="41148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9" name="panel4">
            <a:extLst xmlns:a="http://schemas.openxmlformats.org/drawingml/2006/main">
              <a:ext uri="{FF2B5EF4-FFF2-40B4-BE49-F238E27FC236}">
                <a16:creationId xmlns:a16="http://schemas.microsoft.com/office/drawing/2014/main" id="{932CD173-1214-4E67-8BB9-B4AB68F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76350"/>
            <a:ext cx="2171700" cy="4114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0" name="panel5">
            <a:extLst xmlns:a="http://schemas.openxmlformats.org/drawingml/2006/main">
              <a:ext uri="{FF2B5EF4-FFF2-40B4-BE49-F238E27FC236}">
                <a16:creationId xmlns:a16="http://schemas.microsoft.com/office/drawing/2014/main" id="{B2265670-FB0A-4F0F-AA16-219E852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76350"/>
            <a:ext cx="1885950" cy="41148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1" name="panel6">
            <a:extLst xmlns:a="http://schemas.openxmlformats.org/drawingml/2006/main">
              <a:ext uri="{FF2B5EF4-FFF2-40B4-BE49-F238E27FC236}">
                <a16:creationId xmlns:a16="http://schemas.microsoft.com/office/drawing/2014/main" id="{034FBC4D-AD5E-4089-A707-4330E766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76350"/>
            <a:ext cx="1085850" cy="4114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2" name="stageArrow192">
            <a:extLst xmlns:a="http://schemas.openxmlformats.org/drawingml/2006/main">
              <a:ext uri="{FF2B5EF4-FFF2-40B4-BE49-F238E27FC236}">
                <a16:creationId xmlns:a16="http://schemas.microsoft.com/office/drawing/2014/main" id="{1452CED8-39FB-490B-AE3D-FAE9822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stageArrow424">
            <a:extLst xmlns:a="http://schemas.openxmlformats.org/drawingml/2006/main">
              <a:ext uri="{FF2B5EF4-FFF2-40B4-BE49-F238E27FC236}">
                <a16:creationId xmlns:a16="http://schemas.microsoft.com/office/drawing/2014/main" id="{4AB0448D-E4DD-4654-A6CE-DB8CAA97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tageArrow678">
            <a:extLst xmlns:a="http://schemas.openxmlformats.org/drawingml/2006/main">
              <a:ext uri="{FF2B5EF4-FFF2-40B4-BE49-F238E27FC236}">
                <a16:creationId xmlns:a16="http://schemas.microsoft.com/office/drawing/2014/main" id="{681D8694-49BC-4E46-87A4-6185D46F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stageArrow918">
            <a:extLst xmlns:a="http://schemas.openxmlformats.org/drawingml/2006/main">
              <a:ext uri="{FF2B5EF4-FFF2-40B4-BE49-F238E27FC236}">
                <a16:creationId xmlns:a16="http://schemas.microsoft.com/office/drawing/2014/main" id="{B857BC29-4AC3-4F38-85A4-832FA364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stageArrow1128">
            <a:extLst xmlns:a="http://schemas.openxmlformats.org/drawingml/2006/main">
              <a:ext uri="{FF2B5EF4-FFF2-40B4-BE49-F238E27FC236}">
                <a16:creationId xmlns:a16="http://schemas.microsoft.com/office/drawing/2014/main" id="{82D06555-1803-4BD5-A400-25626B2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051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p1title">
            <a:extLst xmlns:a="http://schemas.openxmlformats.org/drawingml/2006/main">
              <a:ext uri="{FF2B5EF4-FFF2-40B4-BE49-F238E27FC236}">
                <a16:creationId xmlns:a16="http://schemas.microsoft.com/office/drawing/2014/main" id="{536EF5C6-B20D-4665-A693-C43A42F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01  原始媒体 x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 + K=3 历史</a:t>
            </a:r>
          </a:p>
        </p:txBody>
      </p:sp>
      <p:sp>
        <p:nvSpPr>
          <p:cNvPr id="18" name="p2title">
            <a:extLst xmlns:a="http://schemas.openxmlformats.org/drawingml/2006/main">
              <a:ext uri="{FF2B5EF4-FFF2-40B4-BE49-F238E27FC236}">
                <a16:creationId xmlns:a16="http://schemas.microsoft.com/office/drawing/2014/main" id="{D26AA453-7FBD-47B7-B4AD-D5D8674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02  冻结 Qwen：</a:t>
            </a:r>
          </a:p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分模态/候选离线提取</a:t>
            </a:r>
          </a:p>
        </p:txBody>
      </p:sp>
      <p:sp>
        <p:nvSpPr>
          <p:cNvPr id="19" name="p3title">
            <a:extLst xmlns:a="http://schemas.openxmlformats.org/drawingml/2006/main">
              <a:ext uri="{FF2B5EF4-FFF2-40B4-BE49-F238E27FC236}">
                <a16:creationId xmlns:a16="http://schemas.microsoft.com/office/drawing/2014/main" id="{4E6A8A04-2AA3-45BA-A936-8D48B3F9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811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03  预测状态与动力学 aₖ</a:t>
            </a:r>
          </a:p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基础关系后形成 φₖ</a:t>
            </a:r>
          </a:p>
        </p:txBody>
      </p:sp>
      <p:sp>
        <p:nvSpPr>
          <p:cNvPr id="20" name="p4title">
            <a:extLst xmlns:a="http://schemas.openxmlformats.org/drawingml/2006/main">
              <a:ext uri="{FF2B5EF4-FFF2-40B4-BE49-F238E27FC236}">
                <a16:creationId xmlns:a16="http://schemas.microsoft.com/office/drawing/2014/main" id="{447FC432-32F4-48F1-992E-16CD5B8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81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04  逐候选关系与效用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K 轴始终保留</a:t>
            </a:r>
          </a:p>
        </p:txBody>
      </p:sp>
      <p:sp>
        <p:nvSpPr>
          <p:cNvPr id="21" name="p5title">
            <a:extLst xmlns:a="http://schemas.openxmlformats.org/drawingml/2006/main">
              <a:ext uri="{FF2B5EF4-FFF2-40B4-BE49-F238E27FC236}">
                <a16:creationId xmlns:a16="http://schemas.microsoft.com/office/drawing/2014/main" id="{32D964A2-69E0-474F-AA32-11CB44A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81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05  两级安全门控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历史获准后才融合</a:t>
            </a:r>
          </a:p>
        </p:txBody>
      </p:sp>
      <p:sp>
        <p:nvSpPr>
          <p:cNvPr id="22" name="p6title">
            <a:extLst xmlns:a="http://schemas.openxmlformats.org/drawingml/2006/main">
              <a:ext uri="{FF2B5EF4-FFF2-40B4-BE49-F238E27FC236}">
                <a16:creationId xmlns:a16="http://schemas.microsoft.com/office/drawing/2014/main" id="{A09D563B-ABC9-42BF-A286-EBF1306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23" name="currentLabel">
            <a:extLst xmlns:a="http://schemas.openxmlformats.org/drawingml/2006/main">
              <a:ext uri="{FF2B5EF4-FFF2-40B4-BE49-F238E27FC236}">
                <a16:creationId xmlns:a16="http://schemas.microsoft.com/office/drawing/2014/main" id="{15D10D3E-F285-43A9-B9A6-C7FC63F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097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CURRENT</a:t>
            </a:r>
          </a:p>
        </p:txBody>
      </p:sp>
      <p:sp>
        <p:nvSpPr>
          <p:cNvPr id="24" name="historyLabel">
            <a:extLst xmlns:a="http://schemas.openxmlformats.org/drawingml/2006/main">
              <a:ext uri="{FF2B5EF4-FFF2-40B4-BE49-F238E27FC236}">
                <a16:creationId xmlns:a16="http://schemas.microsoft.com/office/drawing/2014/main" id="{324836A1-C426-45C9-963E-B7680B59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HISTORY</a:t>
            </a:r>
          </a:p>
        </p:txBody>
      </p:sp>
      <p:sp>
        <p:nvSpPr>
          <p:cNvPr id="25" name="xcur0">
            <a:extLst xmlns:a="http://schemas.openxmlformats.org/drawingml/2006/main">
              <a:ext uri="{FF2B5EF4-FFF2-40B4-BE49-F238E27FC236}">
                <a16:creationId xmlns:a16="http://schemas.microsoft.com/office/drawing/2014/main" id="{25D9DF5E-8E63-4ACC-A637-4A6804C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57400"/>
            <a:ext cx="609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xₜᵀ</a:t>
            </a:r>
          </a:p>
        </p:txBody>
      </p:sp>
      <p:sp>
        <p:nvSpPr>
          <p:cNvPr id="26" name="xhist0">
            <a:extLst xmlns:a="http://schemas.openxmlformats.org/drawingml/2006/main">
              <a:ext uri="{FF2B5EF4-FFF2-40B4-BE49-F238E27FC236}">
                <a16:creationId xmlns:a16="http://schemas.microsoft.com/office/drawing/2014/main" id="{0B69A503-A55F-4B21-AED7-D6B05D14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628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xₕₖᵀ</a:t>
            </a:r>
          </a:p>
        </p:txBody>
      </p:sp>
      <p:sp>
        <p:nvSpPr>
          <p:cNvPr id="27" name="xcur1">
            <a:extLst xmlns:a="http://schemas.openxmlformats.org/drawingml/2006/main">
              <a:ext uri="{FF2B5EF4-FFF2-40B4-BE49-F238E27FC236}">
                <a16:creationId xmlns:a16="http://schemas.microsoft.com/office/drawing/2014/main" id="{A2D55F24-1266-4A9C-90F8-A34B77F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9850"/>
            <a:ext cx="609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xₜᴬ</a:t>
            </a:r>
          </a:p>
        </p:txBody>
      </p:sp>
      <p:sp>
        <p:nvSpPr>
          <p:cNvPr id="28" name="xhist1">
            <a:extLst xmlns:a="http://schemas.openxmlformats.org/drawingml/2006/main">
              <a:ext uri="{FF2B5EF4-FFF2-40B4-BE49-F238E27FC236}">
                <a16:creationId xmlns:a16="http://schemas.microsoft.com/office/drawing/2014/main" id="{DB469EBC-042C-4250-B3D4-B2FEB01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628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xₕₖᴬ</a:t>
            </a:r>
          </a:p>
        </p:txBody>
      </p:sp>
      <p:sp>
        <p:nvSpPr>
          <p:cNvPr id="29" name="xcur2">
            <a:extLst xmlns:a="http://schemas.openxmlformats.org/drawingml/2006/main">
              <a:ext uri="{FF2B5EF4-FFF2-40B4-BE49-F238E27FC236}">
                <a16:creationId xmlns:a16="http://schemas.microsoft.com/office/drawing/2014/main" id="{55B11AA9-AAF6-4BB4-82C8-9FDB8B5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62300"/>
            <a:ext cx="609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13335">
            <a:solidFill>
              <a:srgbClr val="EC4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C4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C407A"/>
                </a:solidFill>
                <a:latin typeface="Microsoft YaHei"/>
                <a:ea typeface="Microsoft YaHei"/>
                <a:cs typeface="Microsoft YaHei"/>
              </a:rPr>
              <a:t>xₜⱽ</a:t>
            </a:r>
          </a:p>
        </p:txBody>
      </p:sp>
      <p:sp>
        <p:nvSpPr>
          <p:cNvPr id="30" name="xhist2">
            <a:extLst xmlns:a="http://schemas.openxmlformats.org/drawingml/2006/main">
              <a:ext uri="{FF2B5EF4-FFF2-40B4-BE49-F238E27FC236}">
                <a16:creationId xmlns:a16="http://schemas.microsoft.com/office/drawing/2014/main" id="{2052F81C-6C5B-4382-A6C8-637BA6C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628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xₕₖⱽ</a:t>
            </a:r>
          </a:p>
        </p:txBody>
      </p:sp>
      <p:sp>
        <p:nvSpPr>
          <p:cNvPr id="31" name="candidateAxis">
            <a:extLst xmlns:a="http://schemas.openxmlformats.org/drawingml/2006/main">
              <a:ext uri="{FF2B5EF4-FFF2-40B4-BE49-F238E27FC236}">
                <a16:creationId xmlns:a16="http://schemas.microsoft.com/office/drawing/2014/main" id="{3496B37A-5E53-46CB-B3EE-F37B0E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90950"/>
            <a:ext cx="1333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候选 h₁ / h₂ / h₃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严格过去 · same_speaker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时间戳 / quality / mask</a:t>
            </a:r>
          </a:p>
        </p:txBody>
      </p:sp>
      <p:sp>
        <p:nvSpPr>
          <p:cNvPr id="32" name="tensorContract">
            <a:extLst xmlns:a="http://schemas.openxmlformats.org/drawingml/2006/main">
              <a:ext uri="{FF2B5EF4-FFF2-40B4-BE49-F238E27FC236}">
                <a16:creationId xmlns:a16="http://schemas.microsoft.com/office/drawing/2014/main" id="{27BC6E71-FF8E-4EB3-B475-9E0933E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输入合同</a:t>
            </a:r>
          </a:p>
          <a:p xmlns:a="http://schemas.openxmlformats.org/drawingml/2006/main">
            <a:pPr algn="ctr">
              <a:def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current_mask [B,3]</a:t>
            </a:r>
          </a:p>
          <a:p xmlns:a="http://schemas.openxmlformats.org/drawingml/2006/main">
            <a:pPr algn="ctr">
              <a:def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history_mask [B,K]</a:t>
            </a:r>
          </a:p>
          <a:p xmlns:a="http://schemas.openxmlformats.org/drawingml/2006/main">
            <a:pPr algn="ctr">
              <a:def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history_modality_mask [B,K,3]</a:t>
            </a:r>
          </a:p>
        </p:txBody>
      </p:sp>
      <p:sp>
        <p:nvSpPr>
          <p:cNvPr id="33" name="qwen">
            <a:extLst xmlns:a="http://schemas.openxmlformats.org/drawingml/2006/main">
              <a:ext uri="{FF2B5EF4-FFF2-40B4-BE49-F238E27FC236}">
                <a16:creationId xmlns:a16="http://schemas.microsoft.com/office/drawing/2014/main" id="{0819D37D-E73E-4510-AF5C-6BF7D6C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85950"/>
            <a:ext cx="1828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冻结 Qwen3-Omni</a:t>
            </a:r>
          </a:p>
          <a:p xmlns:a="http://schemas.openxmlformats.org/drawingml/2006/main">
            <a:pPr algn="ctr">
              <a:def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每个 m、每个 hₖ 单独前向</a:t>
            </a:r>
          </a:p>
          <a:p xmlns:a="http://schemas.openxmlformats.org/drawingml/2006/main">
            <a:pPr algn="ctr">
              <a:def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主干不训练</a:t>
            </a:r>
          </a:p>
        </p:txBody>
      </p:sp>
      <p:sp>
        <p:nvSpPr>
          <p:cNvPr id="34" name="eTitle">
            <a:extLst xmlns:a="http://schemas.openxmlformats.org/drawingml/2006/main">
              <a:ext uri="{FF2B5EF4-FFF2-40B4-BE49-F238E27FC236}">
                <a16:creationId xmlns:a16="http://schemas.microsoft.com/office/drawing/2014/main" id="{821844E6-4160-4CD0-B468-65F35AFE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670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Qwen hidden：eₜᵐ / eₕₖᵐ（非 N3 输入）</a:t>
            </a:r>
          </a:p>
        </p:txBody>
      </p:sp>
      <p:sp>
        <p:nvSpPr>
          <p:cNvPr id="35" name="e0">
            <a:extLst xmlns:a="http://schemas.openxmlformats.org/drawingml/2006/main">
              <a:ext uri="{FF2B5EF4-FFF2-40B4-BE49-F238E27FC236}">
                <a16:creationId xmlns:a16="http://schemas.microsoft.com/office/drawing/2014/main" id="{9218D6EE-F410-4BDA-8593-C5ED56C6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5524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eᵀ</a:t>
            </a:r>
          </a:p>
        </p:txBody>
      </p:sp>
      <p:sp>
        <p:nvSpPr>
          <p:cNvPr id="36" name="e1">
            <a:extLst xmlns:a="http://schemas.openxmlformats.org/drawingml/2006/main">
              <a:ext uri="{FF2B5EF4-FFF2-40B4-BE49-F238E27FC236}">
                <a16:creationId xmlns:a16="http://schemas.microsoft.com/office/drawing/2014/main" id="{21B952F5-C25D-49D6-895D-A7BE3FF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14650"/>
            <a:ext cx="5524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eᴬ</a:t>
            </a:r>
          </a:p>
        </p:txBody>
      </p:sp>
      <p:sp>
        <p:nvSpPr>
          <p:cNvPr id="37" name="e2">
            <a:extLst xmlns:a="http://schemas.openxmlformats.org/drawingml/2006/main">
              <a:ext uri="{FF2B5EF4-FFF2-40B4-BE49-F238E27FC236}">
                <a16:creationId xmlns:a16="http://schemas.microsoft.com/office/drawing/2014/main" id="{EA8473B5-727F-492B-8524-4FA07F19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14650"/>
            <a:ext cx="5524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13335">
            <a:solidFill>
              <a:srgbClr val="EC4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C4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C407A"/>
                </a:solidFill>
                <a:latin typeface="Microsoft YaHei"/>
                <a:ea typeface="Microsoft YaHei"/>
                <a:cs typeface="Microsoft YaHei"/>
              </a:rPr>
              <a:t>eⱽ</a:t>
            </a:r>
          </a:p>
        </p:txBody>
      </p:sp>
      <p:sp>
        <p:nvSpPr>
          <p:cNvPr id="38" name="cache">
            <a:extLst xmlns:a="http://schemas.openxmlformats.org/drawingml/2006/main">
              <a:ext uri="{FF2B5EF4-FFF2-40B4-BE49-F238E27FC236}">
                <a16:creationId xmlns:a16="http://schemas.microsoft.com/office/drawing/2014/main" id="{87363D10-EAD4-4B9D-8395-8C9CA7B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67100"/>
            <a:ext cx="1828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cache + provenance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model/revision/prompt/pooling/checksum</a:t>
            </a:r>
          </a:p>
        </p:txBody>
      </p:sp>
      <p:sp>
        <p:nvSpPr>
          <p:cNvPr id="39" name="projector">
            <a:extLst xmlns:a="http://schemas.openxmlformats.org/drawingml/2006/main">
              <a:ext uri="{FF2B5EF4-FFF2-40B4-BE49-F238E27FC236}">
                <a16:creationId xmlns:a16="http://schemas.microsoft.com/office/drawing/2014/main" id="{427CB0C2-9FCF-425A-AC19-8ADEFE5A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14800"/>
            <a:ext cx="1828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可训练 ModalityProjector</a:t>
            </a:r>
          </a:p>
          <a:p xmlns:a="http://schemas.openxmlformats.org/drawingml/2006/main">
            <a:pPr algn="ctr">
              <a:defRPr sz="10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e → z，d_model=128</a:t>
            </a:r>
          </a:p>
        </p:txBody>
      </p:sp>
      <p:sp>
        <p:nvSpPr>
          <p:cNvPr id="40" name="ztensors">
            <a:extLst xmlns:a="http://schemas.openxmlformats.org/drawingml/2006/main">
              <a:ext uri="{FF2B5EF4-FFF2-40B4-BE49-F238E27FC236}">
                <a16:creationId xmlns:a16="http://schemas.microsoft.com/office/drawing/2014/main" id="{0FB36CE0-C01C-451F-83A6-9230F0D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1828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Z_current = [B,3,128]</a:t>
            </a:r>
          </a:p>
          <a:p xmlns:a="http://schemas.openxmlformats.org/drawingml/2006/main">
            <a:pPr algn="ctr">
              <a:defRPr sz="975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Z_history = [B,K=3,3,128]</a:t>
            </a:r>
          </a:p>
        </p:txBody>
      </p:sp>
      <p:cxnSp>
        <p:nvCxnSpPr>
          <p:cNvPr id="134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2971800" y="2609850"/>
            <a:ext cx="190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2971800" y="3371850"/>
            <a:ext cx="190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2990850" y="4019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54F6"/>
            </a:solidFill>
            <a:prstDash val="solid"/>
            <a:tailEnd type="triangle" w="sm" len="sm"/>
          </a:ln>
        </p:spPr>
      </p:cxnSp>
      <p:sp>
        <p:nvSpPr>
          <p:cNvPr id="44" name="emotionHead">
            <a:extLst xmlns:a="http://schemas.openxmlformats.org/drawingml/2006/main">
              <a:ext uri="{FF2B5EF4-FFF2-40B4-BE49-F238E27FC236}">
                <a16:creationId xmlns:a16="http://schemas.microsoft.com/office/drawing/2014/main" id="{8E3925D1-61D1-4581-B9F0-05149836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20383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从冻结 e 开始 inner group-OOF</a:t>
            </a:r>
          </a:p>
          <a:p xmlns:a="http://schemas.openxmlformats.org/drawingml/2006/main">
            <a:pPr algn="ctr">
              <a:def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状态 Projector + heads/calibrator</a:t>
            </a:r>
          </a:p>
          <a:p xmlns:a="http://schemas.openxmlformats.org/drawingml/2006/main">
            <a:pPr algn="ctr">
              <a:def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预测 posterior · VAD · confidence</a:t>
            </a:r>
          </a:p>
        </p:txBody>
      </p:sp>
      <p:sp>
        <p:nvSpPr>
          <p:cNvPr id="45" name="strictPast">
            <a:extLst xmlns:a="http://schemas.openxmlformats.org/drawingml/2006/main">
              <a:ext uri="{FF2B5EF4-FFF2-40B4-BE49-F238E27FC236}">
                <a16:creationId xmlns:a16="http://schemas.microsoft.com/office/drawing/2014/main" id="{9E73EF0D-FDF2-4741-91B4-29226AB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038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严格过去预测形成 aₖ</a:t>
            </a:r>
          </a:p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actor 惯性/恢复 · interaction shift</a:t>
            </a:r>
          </a:p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current/history 冲突 + confidence</a:t>
            </a:r>
          </a:p>
        </p:txBody>
      </p:sp>
      <p:sp>
        <p:nvSpPr>
          <p:cNvPr id="46" name="r0">
            <a:extLst xmlns:a="http://schemas.openxmlformats.org/drawingml/2006/main">
              <a:ext uri="{FF2B5EF4-FFF2-40B4-BE49-F238E27FC236}">
                <a16:creationId xmlns:a16="http://schemas.microsoft.com/office/drawing/2014/main" id="{3FB34331-A2DF-4432-9E10-61E7ECE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20383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基础关系 Rₖ⁰ = Rel₀(zₜ,zₕₖ)</a:t>
            </a:r>
          </a:p>
        </p:txBody>
      </p:sp>
      <p:sp>
        <p:nvSpPr>
          <p:cNvPr id="47" name="phi">
            <a:extLst xmlns:a="http://schemas.openxmlformats.org/drawingml/2006/main">
              <a:ext uri="{FF2B5EF4-FFF2-40B4-BE49-F238E27FC236}">
                <a16:creationId xmlns:a16="http://schemas.microsoft.com/office/drawing/2014/main" id="{DDD39DD4-0F59-4D1E-AC10-84DE5B95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2038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φₖ = Φ(Rₖ⁰, aₖ, masks)</a:t>
            </a:r>
          </a:p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基础关系 + 情感理论/可用性条件</a:t>
            </a:r>
          </a:p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每个 hₖ 独立构造</a:t>
            </a:r>
          </a:p>
        </p:txBody>
      </p:sp>
      <p:sp>
        <p:nvSpPr>
          <p:cNvPr id="48" name="rel">
            <a:extLst xmlns:a="http://schemas.openxmlformats.org/drawingml/2006/main">
              <a:ext uri="{FF2B5EF4-FFF2-40B4-BE49-F238E27FC236}">
                <a16:creationId xmlns:a16="http://schemas.microsoft.com/office/drawing/2014/main" id="{45E62A6D-383F-4BC6-9236-9C66A7A3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2038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Rₖ = Rel(Rₖ⁰, φₖ)</a:t>
            </a:r>
          </a:p>
          <a:p xmlns:a="http://schemas.openxmlformats.org/drawingml/2006/main">
            <a:pPr algn="ctr">
              <a:defRPr sz="97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φₖ 是真实计算输入</a:t>
            </a:r>
          </a:p>
        </p:txBody>
      </p:sp>
      <p:cxnSp>
        <p:nvCxnSpPr>
          <p:cNvPr id="142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5305425" y="24193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78"/>
            </a:solidFill>
            <a:prstDash val="soli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5305425" y="31813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54F6"/>
            </a:solidFill>
            <a:prstDash val="soli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5305425" y="37338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47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5305425" y="44767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triangle" w="sm" len="sm"/>
          </a:ln>
        </p:spPr>
      </p:cxnSp>
      <p:sp>
        <p:nvSpPr>
          <p:cNvPr id="53" name="phiRelationTag">
            <a:extLst xmlns:a="http://schemas.openxmlformats.org/drawingml/2006/main">
              <a:ext uri="{FF2B5EF4-FFF2-40B4-BE49-F238E27FC236}">
                <a16:creationId xmlns:a16="http://schemas.microsoft.com/office/drawing/2014/main" id="{22A124A7-91E4-4448-9DFB-FF1023E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54" name="matrix">
            <a:extLst xmlns:a="http://schemas.openxmlformats.org/drawingml/2006/main">
              <a:ext uri="{FF2B5EF4-FFF2-40B4-BE49-F238E27FC236}">
                <a16:creationId xmlns:a16="http://schemas.microsoft.com/office/drawing/2014/main" id="{53C44D51-E4D2-41B1-85AB-00A7EBFE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190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每个 hₖ：3×3 模态关系</a:t>
            </a:r>
          </a:p>
          <a:p xmlns:a="http://schemas.openxmlformats.org/drawingml/2006/main">
            <a:pPr algn="ctr">
              <a:def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T↔T/A/V · A↔T/A/V · V↔T/A/V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单个 Rₖ [B,3,3,d]</a:t>
            </a:r>
          </a:p>
          <a:p xmlns:a="http://schemas.openxmlformats.org/drawingml/2006/main">
            <a:pPr algn="ctr">
              <a:def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4FCB"/>
                </a:solidFill>
                <a:latin typeface="Microsoft YaHei"/>
                <a:ea typeface="Microsoft YaHei"/>
                <a:cs typeface="Microsoft YaHei"/>
              </a:rPr>
              <a:t>stackₖ(Rₖ) [B,K,3,3,d]</a:t>
            </a:r>
          </a:p>
        </p:txBody>
      </p:sp>
      <p:sp>
        <p:nvSpPr>
          <p:cNvPr id="55" name="utility">
            <a:extLst xmlns:a="http://schemas.openxmlformats.org/drawingml/2006/main">
              <a:ext uri="{FF2B5EF4-FFF2-40B4-BE49-F238E27FC236}">
                <a16:creationId xmlns:a16="http://schemas.microsoft.com/office/drawing/2014/main" id="{66D811F2-F007-4672-A40A-FEE3D96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rPr>
              <a:t>S_set ≠ R_set：真实双向效用</a:t>
            </a:r>
          </a:p>
          <a:p xmlns:a="http://schemas.openxmlformats.org/drawingml/2006/main">
            <a:pPr algn="ctr">
              <a:def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rPr>
              <a:t>Uₖᵀ/Uₖᴬ/Uₖⱽ · Uₖʲᵒⁱⁿᵗ</a:t>
            </a:r>
          </a:p>
          <a:p xmlns:a="http://schemas.openxmlformats.org/drawingml/2006/main">
            <a:pPr algn="ctr">
              <a:def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rPr>
              <a:t>Uₖᶜʳᵒˢˢ：不可加协同/冲突</a:t>
            </a:r>
          </a:p>
          <a:p xmlns:a="http://schemas.openxmlformats.org/drawingml/2006/main">
            <a:pPr algn="ctr">
              <a:def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A5A00"/>
                </a:solidFill>
                <a:latin typeface="Microsoft YaHei"/>
                <a:ea typeface="Microsoft YaHei"/>
                <a:cs typeface="Microsoft YaHei"/>
              </a:rPr>
              <a:t>group-OOF target</a:t>
            </a:r>
          </a:p>
        </p:txBody>
      </p:sp>
      <p:sp>
        <p:nvSpPr>
          <p:cNvPr id="56" name="phiInputs">
            <a:extLst xmlns:a="http://schemas.openxmlformats.org/drawingml/2006/main">
              <a:ext uri="{FF2B5EF4-FFF2-40B4-BE49-F238E27FC236}">
                <a16:creationId xmlns:a16="http://schemas.microsoft.com/office/drawing/2014/main" id="{E78297DE-1E7D-4099-BB01-11F9B78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φₖ 直接进入四条路径</a:t>
            </a:r>
          </a:p>
          <a:p xmlns:a="http://schemas.openxmlformats.org/drawingml/2006/main">
            <a:pPr algn="ctr">
              <a:def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关系 · 效用 · 模态门 · 候选门</a:t>
            </a:r>
          </a:p>
        </p:txBody>
      </p:sp>
      <p:sp>
        <p:nvSpPr>
          <p:cNvPr id="57" name="phiUtilityTag">
            <a:extLst xmlns:a="http://schemas.openxmlformats.org/drawingml/2006/main">
              <a:ext uri="{FF2B5EF4-FFF2-40B4-BE49-F238E27FC236}">
                <a16:creationId xmlns:a16="http://schemas.microsoft.com/office/drawing/2014/main" id="{CDF8C488-40BF-4BC7-9933-8B08DAE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② φₖ</a:t>
            </a:r>
          </a:p>
        </p:txBody>
      </p:sp>
      <p:sp>
        <p:nvSpPr>
          <p:cNvPr id="58" name="candidateKeep">
            <a:extLst xmlns:a="http://schemas.openxmlformats.org/drawingml/2006/main">
              <a:ext uri="{FF2B5EF4-FFF2-40B4-BE49-F238E27FC236}">
                <a16:creationId xmlns:a16="http://schemas.microsoft.com/office/drawing/2014/main" id="{8088AF3A-F2A5-4031-84B1-BE7D89D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1905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k ∈ {1,2,3}；禁止先聚合</a:t>
            </a:r>
          </a:p>
        </p:txBody>
      </p:sp>
      <p:cxnSp>
        <p:nvCxnSpPr>
          <p:cNvPr id="15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58100" y="2876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53" name=""/>
          <p:cNvCxnSpPr>
            <a:stCxn xmlns:a="http://schemas.openxmlformats.org/drawingml/2006/main" id="56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7658100" y="3886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54F6"/>
            </a:solidFill>
            <a:prstDash val="solid"/>
            <a:tailEnd type="triangle" w="sm" len="sm"/>
          </a:ln>
        </p:spPr>
      </p:cxnSp>
      <p:sp>
        <p:nvSpPr>
          <p:cNvPr id="61" name="modalityGate">
            <a:extLst xmlns:a="http://schemas.openxmlformats.org/drawingml/2006/main">
              <a:ext uri="{FF2B5EF4-FFF2-40B4-BE49-F238E27FC236}">
                <a16:creationId xmlns:a16="http://schemas.microsoft.com/office/drawing/2014/main" id="{580CBD75-DBA8-48B9-A501-1B3C0A22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一级模态门 gₖᵐ</a:t>
            </a:r>
          </a:p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Rₖᵐ + φₖ + Uₖᵐ</a:t>
            </a:r>
          </a:p>
          <a:p xmlns:a="http://schemas.openxmlformats.org/drawingml/2006/main">
            <a:pPr algn="ctr">
              <a:def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+ quality / mask</a:t>
            </a:r>
          </a:p>
        </p:txBody>
      </p:sp>
      <p:sp>
        <p:nvSpPr>
          <p:cNvPr id="62" name="phiGateTag">
            <a:extLst xmlns:a="http://schemas.openxmlformats.org/drawingml/2006/main">
              <a:ext uri="{FF2B5EF4-FFF2-40B4-BE49-F238E27FC236}">
                <a16:creationId xmlns:a16="http://schemas.microsoft.com/office/drawing/2014/main" id="{FFB53A43-AA7F-4B11-9700-9B402B6A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③ φₖ → 门控</a:t>
            </a:r>
          </a:p>
        </p:txBody>
      </p:sp>
      <p:sp>
        <p:nvSpPr>
          <p:cNvPr id="63" name="historyGate">
            <a:extLst xmlns:a="http://schemas.openxmlformats.org/drawingml/2006/main">
              <a:ext uri="{FF2B5EF4-FFF2-40B4-BE49-F238E27FC236}">
                <a16:creationId xmlns:a16="http://schemas.microsoft.com/office/drawing/2014/main" id="{3CB8084A-93A2-488F-B59F-8B4F93EB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13335">
            <a:solidFill>
              <a:srgbClr val="7454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二级候选联合门</a:t>
            </a:r>
          </a:p>
          <a:p xmlns:a="http://schemas.openxmlformats.org/drawingml/2006/main">
            <a:pPr algn="ctr">
              <a:def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Rₖ + φₖ + Uʲᵒⁱⁿᵗ/Uᶜʳᵒˢˢ</a:t>
            </a:r>
          </a:p>
          <a:p xmlns:a="http://schemas.openxmlformats.org/drawingml/2006/main">
            <a:pPr algn="ctr">
              <a:def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3DC4"/>
                </a:solidFill>
                <a:latin typeface="Microsoft YaHei"/>
                <a:ea typeface="Microsoft YaHei"/>
                <a:cs typeface="Microsoft YaHei"/>
              </a:rPr>
              <a:t>+ {gₖᵐ} / masks</a:t>
            </a:r>
          </a:p>
        </p:txBody>
      </p:sp>
      <p:sp>
        <p:nvSpPr>
          <p:cNvPr id="64" name="safety">
            <a:extLst xmlns:a="http://schemas.openxmlformats.org/drawingml/2006/main">
              <a:ext uri="{FF2B5EF4-FFF2-40B4-BE49-F238E27FC236}">
                <a16:creationId xmlns:a16="http://schemas.microsoft.com/office/drawing/2014/main" id="{6E83305E-7D92-43E8-BE2B-872DD53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619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3335">
            <a:solidFill>
              <a:srgbClr val="D92D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质量 / mask / harmful</a:t>
            </a:r>
          </a:p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不确定或有害 → 硬切</a:t>
            </a:r>
          </a:p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独立 A0 checkpoint</a:t>
            </a:r>
          </a:p>
        </p:txBody>
      </p:sp>
      <p:sp>
        <p:nvSpPr>
          <p:cNvPr id="65" name="fusion">
            <a:extLst xmlns:a="http://schemas.openxmlformats.org/drawingml/2006/main">
              <a:ext uri="{FF2B5EF4-FFF2-40B4-BE49-F238E27FC236}">
                <a16:creationId xmlns:a16="http://schemas.microsoft.com/office/drawing/2014/main" id="{05478663-59B4-49D5-A682-1907B280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1619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门控历史融合</a:t>
            </a:r>
          </a:p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条件 Rₖ + φₖ + utility</a:t>
            </a:r>
          </a:p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仅融合获准信息</a:t>
            </a:r>
          </a:p>
        </p:txBody>
      </p:sp>
      <p:cxnSp>
        <p:nvCxnSpPr>
          <p:cNvPr id="159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9801225" y="2476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54F6"/>
            </a:solidFill>
            <a:prstDash val="solid"/>
            <a:tailEnd type="triangle" w="sm" len="sm"/>
          </a:ln>
        </p:spPr>
      </p:cxnSp>
      <p:cxnSp>
        <p:nvCxnSpPr>
          <p:cNvPr id="160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9801225" y="3200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  <a:tail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9801225" y="39624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78"/>
            </a:solidFill>
            <a:prstDash val="solid"/>
            <a:tailEnd type="triangle" w="sm" len="sm"/>
          </a:ln>
        </p:spPr>
      </p:cxnSp>
      <p:sp>
        <p:nvSpPr>
          <p:cNvPr id="69" name="classifier">
            <a:extLst xmlns:a="http://schemas.openxmlformats.org/drawingml/2006/main">
              <a:ext uri="{FF2B5EF4-FFF2-40B4-BE49-F238E27FC236}">
                <a16:creationId xmlns:a16="http://schemas.microsoft.com/office/drawing/2014/main" id="{B828DBE6-3986-4B20-A929-A26D345A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38350"/>
            <a:ext cx="895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Emotion</a:t>
            </a:r>
          </a:p>
          <a:p xmlns:a="http://schemas.openxmlformats.org/drawingml/2006/main">
            <a:pPr algn="ctr">
              <a:defRPr sz="10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classifier</a:t>
            </a:r>
          </a:p>
        </p:txBody>
      </p:sp>
      <p:sp>
        <p:nvSpPr>
          <p:cNvPr id="70" name="prediction">
            <a:extLst xmlns:a="http://schemas.openxmlformats.org/drawingml/2006/main">
              <a:ext uri="{FF2B5EF4-FFF2-40B4-BE49-F238E27FC236}">
                <a16:creationId xmlns:a16="http://schemas.microsoft.com/office/drawing/2014/main" id="{BF1D1AF8-2816-41D1-AF78-51DA89E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14650"/>
            <a:ext cx="895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情绪概率</a:t>
            </a:r>
          </a:p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预测标签</a:t>
            </a:r>
          </a:p>
          <a:p xmlns:a="http://schemas.openxmlformats.org/drawingml/2006/main">
            <a:pPr algn="ctr">
              <a:def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71" name="evidence">
            <a:extLst xmlns:a="http://schemas.openxmlformats.org/drawingml/2006/main">
              <a:ext uri="{FF2B5EF4-FFF2-40B4-BE49-F238E27FC236}">
                <a16:creationId xmlns:a16="http://schemas.microsoft.com/office/drawing/2014/main" id="{9F3A8CD1-6D1A-4C78-AE80-8B8106C1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895350" cy="11049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3335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≥5 seeds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消融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95% CI</a:t>
            </a:r>
          </a:p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write-once</a:t>
            </a:r>
          </a:p>
        </p:txBody>
      </p:sp>
      <p:cxnSp>
        <p:nvCxnSpPr>
          <p:cNvPr id="165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1401425" y="2743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78"/>
            </a:solidFill>
            <a:prstDash val="solid"/>
            <a:tailEnd type="triangle" w="sm" len="sm"/>
          </a:ln>
        </p:spPr>
      </p:cxnSp>
      <p:cxnSp>
        <p:nvCxnSpPr>
          <p:cNvPr id="16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1401425" y="36004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48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6324600" y="2381250"/>
            <a:ext cx="381000" cy="2457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6BFF"/>
            </a:solidFill>
            <a:prstDash val="solid"/>
            <a:tailEnd type="triangle" w="sm" len="sm"/>
          </a:ln>
        </p:spPr>
      </p:cxnSp>
      <p:cxnSp>
        <p:nvCxnSpPr>
          <p:cNvPr id="168" name=""/>
          <p:cNvCxnSpPr>
            <a:stCxn xmlns:a="http://schemas.openxmlformats.org/drawingml/2006/main" id="47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6324600" y="3448050"/>
            <a:ext cx="3810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454F6"/>
            </a:solidFill>
            <a:prstDash val="solid"/>
            <a:tailEnd type="triangle" w="sm" len="sm"/>
          </a:ln>
        </p:spPr>
      </p:cxnSp>
      <p:cxnSp>
        <p:nvCxnSpPr>
          <p:cNvPr id="169" name=""/>
          <p:cNvCxnSpPr>
            <a:stCxn xmlns:a="http://schemas.openxmlformats.org/drawingml/2006/main" id="47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6324600" y="2181225"/>
            <a:ext cx="2667000" cy="1981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454F6"/>
            </a:solidFill>
            <a:prstDash val="dash"/>
            <a:tailEnd type="triangle" w="sm" len="sm"/>
          </a:ln>
        </p:spPr>
      </p:cxnSp>
      <p:cxnSp>
        <p:nvCxnSpPr>
          <p:cNvPr id="170" name=""/>
          <p:cNvCxnSpPr>
            <a:stCxn xmlns:a="http://schemas.openxmlformats.org/drawingml/2006/main" id="47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6324600" y="2905125"/>
            <a:ext cx="266700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7454F6"/>
            </a:solidFill>
            <a:prstDash val="dash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48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6324600" y="2181225"/>
            <a:ext cx="2667000" cy="2657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2F6BFF"/>
            </a:solidFill>
            <a:prstDash val="dash"/>
            <a:tailEnd type="triangle" w="sm" len="sm"/>
          </a:ln>
        </p:spPr>
      </p:cxnSp>
      <p:cxnSp>
        <p:nvCxnSpPr>
          <p:cNvPr id="172" name=""/>
          <p:cNvCxnSpPr>
            <a:stCxn xmlns:a="http://schemas.openxmlformats.org/drawingml/2006/main" id="48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6324600" y="2905125"/>
            <a:ext cx="2667000" cy="1933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2F6BFF"/>
            </a:solidFill>
            <a:prstDash val="dash"/>
            <a:tailEnd type="triangle" w="sm" len="sm"/>
          </a:ln>
        </p:spPr>
      </p:cxnSp>
      <p:cxnSp>
        <p:nvCxnSpPr>
          <p:cNvPr id="173" name=""/>
          <p:cNvCxnSpPr>
            <a:stCxn xmlns:a="http://schemas.openxmlformats.org/drawingml/2006/main" id="55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8610600" y="2181225"/>
            <a:ext cx="3810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74" name=""/>
          <p:cNvCxnSpPr>
            <a:stCxn xmlns:a="http://schemas.openxmlformats.org/drawingml/2006/main" id="55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8610600" y="2905125"/>
            <a:ext cx="38100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F59E0B"/>
            </a:solidFill>
            <a:prstDash val="dash"/>
            <a:tailEnd type="triangle" w="sm" len="sm"/>
          </a:ln>
        </p:spPr>
      </p:cxnSp>
      <p:cxnSp>
        <p:nvCxnSpPr>
          <p:cNvPr id="175" name=""/>
          <p:cNvCxnSpPr>
            <a:stCxn xmlns:a="http://schemas.openxmlformats.org/drawingml/2006/main" id="65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10610850" y="2390775"/>
            <a:ext cx="342900" cy="2028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A878"/>
            </a:solidFill>
            <a:prstDash val="solid"/>
            <a:tailEnd type="triangle" w="sm" len="sm"/>
          </a:ln>
        </p:spPr>
      </p:cxnSp>
      <p:sp>
        <p:nvSpPr>
          <p:cNvPr id="83" name="phaseAOut">
            <a:extLst xmlns:a="http://schemas.openxmlformats.org/drawingml/2006/main">
              <a:ext uri="{FF2B5EF4-FFF2-40B4-BE49-F238E27FC236}">
                <a16:creationId xmlns:a16="http://schemas.microsoft.com/office/drawing/2014/main" id="{31BEC372-2FAB-4B5A-B736-1F28C1A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3924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3335">
            <a:solidFill>
              <a:srgbClr val="00A8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独立 A0 checkpoint：Phase A current-only；Phase B 拒绝/无历史时硬切 → 06</a:t>
            </a:r>
          </a:p>
          <a:p xmlns:a="http://schemas.openxmlformats.org/drawingml/2006/main">
            <a:pPr algn="ctr">
              <a:defRPr sz="6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87F5B"/>
                </a:solidFill>
                <a:latin typeface="Microsoft YaHei"/>
                <a:ea typeface="Microsoft YaHei"/>
                <a:cs typeface="Microsoft YaHei"/>
              </a:rPr>
              <a:t>A1 仅用无参数 mask-safe history mean</a:t>
            </a:r>
          </a:p>
        </p:txBody>
      </p:sp>
      <p:cxnSp>
        <p:nvCxnSpPr>
          <p:cNvPr id="177" name=""/>
          <p:cNvCxnSpPr>
            <a:stCxn xmlns:a="http://schemas.openxmlformats.org/drawingml/2006/main" id="40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905250" y="4943475"/>
            <a:ext cx="280035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00A878"/>
            </a:solidFill>
            <a:prstDash val="dash"/>
            <a:tailEnd type="triangle" w="sm" len="sm"/>
          </a:ln>
        </p:spPr>
      </p:cxnSp>
      <p:cxnSp>
        <p:nvCxnSpPr>
          <p:cNvPr id="178" name=""/>
          <p:cNvCxnSpPr>
            <a:stCxn xmlns:a="http://schemas.openxmlformats.org/drawingml/2006/main" id="64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flipH="1">
            <a:off x="8667750" y="3962400"/>
            <a:ext cx="11334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2D20"/>
            </a:solidFill>
            <a:prstDash val="dash"/>
            <a:tailEnd type="triangle" w="sm" len="sm"/>
          </a:ln>
        </p:spPr>
      </p:cxnSp>
      <p:cxnSp>
        <p:nvCxnSpPr>
          <p:cNvPr id="179" name=""/>
          <p:cNvCxnSpPr>
            <a:stCxn xmlns:a="http://schemas.openxmlformats.org/drawingml/2006/main" id="83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10629900" y="3257550"/>
            <a:ext cx="323850" cy="1895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00A878"/>
            </a:solidFill>
            <a:prstDash val="dash"/>
            <a:tailEnd type="triangle" w="sm" len="sm"/>
          </a:ln>
        </p:spPr>
      </p:cxnSp>
      <p:sp>
        <p:nvSpPr>
          <p:cNvPr id="87" name="bottomRail">
            <a:extLst xmlns:a="http://schemas.openxmlformats.org/drawingml/2006/main">
              <a:ext uri="{FF2B5EF4-FFF2-40B4-BE49-F238E27FC236}">
                <a16:creationId xmlns:a16="http://schemas.microsoft.com/office/drawing/2014/main" id="{F76966A3-71EB-4FD5-AB5A-DC1EE30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05450"/>
            <a:ext cx="11696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88" name="railTitle">
            <a:extLst xmlns:a="http://schemas.openxmlformats.org/drawingml/2006/main">
              <a:ext uri="{FF2B5EF4-FFF2-40B4-BE49-F238E27FC236}">
                <a16:creationId xmlns:a16="http://schemas.microsoft.com/office/drawing/2014/main" id="{E4B49512-3D0E-4E88-9704-C5F6C17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训练监督边界与实现状态</a:t>
            </a:r>
          </a:p>
        </p:txBody>
      </p:sp>
      <p:sp>
        <p:nvSpPr>
          <p:cNvPr id="89" name="gold">
            <a:extLst xmlns:a="http://schemas.openxmlformats.org/drawingml/2006/main">
              <a:ext uri="{FF2B5EF4-FFF2-40B4-BE49-F238E27FC236}">
                <a16:creationId xmlns:a16="http://schemas.microsoft.com/office/drawing/2014/main" id="{9923D4EC-D6E0-4231-81EB-2F4A7D9F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3335">
            <a:solidFill>
              <a:srgbClr val="C77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rPr>
              <a:t>gold 角色严格隔离</a:t>
            </a:r>
          </a:p>
          <a:p xmlns:a="http://schemas.openxmlformats.org/drawingml/2006/main">
            <a:pPr algn="ctr">
              <a:def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rPr>
              <a:t>train→损失/OOF target</a:t>
            </a:r>
          </a:p>
          <a:p xmlns:a="http://schemas.openxmlformats.org/drawingml/2006/main">
            <a:pPr algn="ctr">
              <a:def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rPr>
              <a:t>dev→metric/best evaluator</a:t>
            </a:r>
          </a:p>
          <a:p xmlns:a="http://schemas.openxmlformats.org/drawingml/2006/main">
            <a:pPr algn="ctr">
              <a:def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8A4B08"/>
                </a:solidFill>
                <a:latin typeface="Microsoft YaHei"/>
                <a:ea typeface="Microsoft YaHei"/>
                <a:cs typeface="Microsoft YaHei"/>
              </a:rPr>
              <a:t>test/outer→授权 write-once</a:t>
            </a:r>
          </a:p>
        </p:txBody>
      </p:sp>
      <p:sp>
        <p:nvSpPr>
          <p:cNvPr id="90" name="never">
            <a:extLst xmlns:a="http://schemas.openxmlformats.org/drawingml/2006/main">
              <a:ext uri="{FF2B5EF4-FFF2-40B4-BE49-F238E27FC236}">
                <a16:creationId xmlns:a16="http://schemas.microsoft.com/office/drawing/2014/main" id="{5B540704-ECD8-45E5-8FC6-341D40E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67400"/>
            <a:ext cx="2305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3335">
            <a:solidFill>
              <a:srgbClr val="D92D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所有 gold 均不作 forward 特征</a:t>
            </a:r>
          </a:p>
          <a:p xmlns:a="http://schemas.openxmlformats.org/drawingml/2006/main">
            <a:pPr algn="ctr">
              <a:def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禁用 gold → posterior/VAD/aₖ/φₖ</a:t>
            </a:r>
          </a:p>
          <a:p xmlns:a="http://schemas.openxmlformats.org/drawingml/2006/main">
            <a:pPr algn="ctr">
              <a:def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禁用评估结果回流</a:t>
            </a:r>
          </a:p>
        </p:txBody>
      </p:sp>
      <p:sp>
        <p:nvSpPr>
          <p:cNvPr id="91" name="currentImpl">
            <a:extLst xmlns:a="http://schemas.openxmlformats.org/drawingml/2006/main">
              <a:ext uri="{FF2B5EF4-FFF2-40B4-BE49-F238E27FC236}">
                <a16:creationId xmlns:a16="http://schemas.microsoft.com/office/drawing/2014/main" id="{C7BEDBA3-28AD-4CC1-9CF6-36AC5B70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91200"/>
            <a:ext cx="6629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13335">
            <a:solidFill>
              <a:srgbClr val="D92D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当前仓库实现（非本图完整模型）</a:t>
            </a:r>
          </a:p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仅文本接入 Qwen；音频/视频仍是 sidecar；synthetic trainer；完整候选轴、φₖ 条件化、双向效用与两级门控尚待实现</a:t>
            </a:r>
          </a:p>
        </p:txBody>
      </p:sp>
      <p:cxnSp>
        <p:nvCxnSpPr>
          <p:cNvPr id="18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400300" y="61722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A00"/>
            </a:solidFill>
            <a:prstDash val="dash"/>
            <a:tailEnd type="triangle" w="sm" len="sm"/>
          </a:ln>
        </p:spPr>
      </p:cxnSp>
      <p:sp>
        <p:nvSpPr>
          <p:cNvPr id="93" name="labelLegend">
            <a:extLst xmlns:a="http://schemas.openxmlformats.org/drawingml/2006/main">
              <a:ext uri="{FF2B5EF4-FFF2-40B4-BE49-F238E27FC236}">
                <a16:creationId xmlns:a16="http://schemas.microsoft.com/office/drawing/2014/main" id="{6D9F051A-6AAD-4B85-8E31-05DCD43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1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虚线金色箭头只到监督/evaluator 边界；推理路径无 gold</a:t>
            </a:r>
          </a:p>
        </p:txBody>
      </p:sp>
    </p:spTree>
    <p:extLst>
      <p:ext uri="{BB962C8B-B14F-4D97-AF65-F5344CB8AC3E}">
        <p14:creationId xmlns:p14="http://schemas.microsoft.com/office/powerpoint/2010/main" val="1377054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2026-08-13T17:09:12.1730000Z</dcterms:created>
  <dcterms:modified xsi:type="dcterms:W3CDTF">2026-08-13T17:09:12.1730000Z</dcterms:modified>
</coreProperties>
</file>