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5eaa49cac4923" /><Relationship Type="http://schemas.openxmlformats.org/officeDocument/2006/relationships/extended-properties" Target="/docProps/app.xml" Id="R363ec0d24d524bbf" /><Relationship Type="http://schemas.openxmlformats.org/officeDocument/2006/relationships/officeDocument" Target="/ppt/presentation.xml" Id="R8f539de22cbc4b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eec524373b4571"/>
  </p:sldMasterIdLst>
  <p:notesMasterIdLst>
    <p:notesMasterId xmlns:r="http://schemas.openxmlformats.org/officeDocument/2006/relationships" r:id="R203108a192eb40d4"/>
  </p:notesMasterIdLst>
  <p:sldIdLst>
    <p:sldId xmlns:r="http://schemas.openxmlformats.org/officeDocument/2006/relationships" id="256" r:id="Rcdc4120d576746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ed0f4f20cf4451" /><Relationship Type="http://schemas.openxmlformats.org/officeDocument/2006/relationships/slideMaster" Target="/ppt/slideMasters/slideMaster1.xml" Id="Re5eec524373b4571" /><Relationship Type="http://schemas.openxmlformats.org/officeDocument/2006/relationships/notesMaster" Target="/ppt/notesMasters/notesMaster1.xml" Id="R203108a192eb40d4" /><Relationship Type="http://schemas.openxmlformats.org/officeDocument/2006/relationships/presProps" Target="/ppt/presProps.xml" Id="Ra84ffc17e5e6472f" /><Relationship Type="http://schemas.openxmlformats.org/officeDocument/2006/relationships/tableStyles" Target="/ppt/tableStyles.xml" Id="Rf08bd27990314ddb" /><Relationship Type="http://schemas.openxmlformats.org/officeDocument/2006/relationships/slide" Target="/ppt/slides/slide1.xml" Id="Rcdc4120d576746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ffcf1d23d94b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85816e25164f56" /><Relationship Type="http://schemas.openxmlformats.org/officeDocument/2006/relationships/notesMaster" Target="/ppt/notesMasters/notesMaster1.xml" Id="R0d122cb6bdd940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Scientific content: repository-local Phase A / Phase B experiment plan frozen on 2026-08-13.</a:t>
            </a:r>
          </a:p>
          <a:p xmlns:a="http://schemas.openxmlformats.org/drawingml/2006/main">
            <a:r>
              <a:t>Visual style reference: assets/n3_emotion_history_utility_workflow_20260809.pptx and .png.</a:t>
            </a:r>
          </a:p>
          <a:p xmlns:a="http://schemas.openxmlformats.org/drawingml/2006/main">
            <a:r>
              <a:t>No external visual assets or external empirical claims were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6ab4bc60174b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b79f64404e4574" /><Relationship Type="http://schemas.openxmlformats.org/officeDocument/2006/relationships/slideLayout" Target="/ppt/slideLayouts/slideLayout1.xml" Id="R32743ca61b2146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743ca61b2146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c1d1800ae4b02" /><Relationship Type="http://schemas.openxmlformats.org/officeDocument/2006/relationships/notesSlide" Target="/ppt/notesSlides/notesSlide1.xml" Id="R776ee08cf86345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title">
            <a:extLst xmlns:a="http://schemas.openxmlformats.org/drawingml/2006/main">
              <a:ext uri="{FF2B5EF4-FFF2-40B4-BE49-F238E27FC236}">
                <a16:creationId xmlns:a16="http://schemas.microsoft.com/office/drawing/2014/main" id="{821C2DDF-1900-4806-8651-0943809F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11582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N3 情感历史效用控制：Qwen三模态表征 × 情感理论 × 双向边际效用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6285A75-DA7F-43DA-A75E-914E0675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71500"/>
            <a:ext cx="1154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Frozen Qwen3-Omni representations with emotion-aware six-stream history utility control</a:t>
            </a:r>
          </a:p>
        </p:txBody>
      </p:sp>
      <p:sp>
        <p:nvSpPr>
          <p:cNvPr id="3" name="phase_a">
            <a:extLst xmlns:a="http://schemas.openxmlformats.org/drawingml/2006/main">
              <a:ext uri="{FF2B5EF4-FFF2-40B4-BE49-F238E27FC236}">
                <a16:creationId xmlns:a16="http://schemas.microsoft.com/office/drawing/2014/main" id="{5657090C-A25F-4FAF-9DF7-7104F868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38200"/>
            <a:ext cx="43243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PHASE A  当前执行：01→02→05 · 三模态管线 + emotion-only</a:t>
            </a:r>
          </a:p>
        </p:txBody>
      </p:sp>
      <p:sp>
        <p:nvSpPr>
          <p:cNvPr id="4" name="phase_b">
            <a:extLst xmlns:a="http://schemas.openxmlformats.org/drawingml/2006/main">
              <a:ext uri="{FF2B5EF4-FFF2-40B4-BE49-F238E27FC236}">
                <a16:creationId xmlns:a16="http://schemas.microsoft.com/office/drawing/2014/main" id="{3F71054B-2339-4FAB-835C-F02E174B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838200"/>
            <a:ext cx="71437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PHASE B  完整 N3：01→02→03→04→05 · 情感理论 / 3×3 / 双向效用 / 两级门控</a:t>
            </a:r>
          </a:p>
        </p:txBody>
      </p:sp>
      <p:sp>
        <p:nvSpPr>
          <p:cNvPr id="5" name="panel_input">
            <a:extLst xmlns:a="http://schemas.openxmlformats.org/drawingml/2006/main">
              <a:ext uri="{FF2B5EF4-FFF2-40B4-BE49-F238E27FC236}">
                <a16:creationId xmlns:a16="http://schemas.microsoft.com/office/drawing/2014/main" id="{2AA05000-BC5E-4726-B04C-C044CA80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1257300"/>
            <a:ext cx="2152650" cy="4095750"/>
          </a:xfrm>
          <a:prstGeom xmlns:a="http://schemas.openxmlformats.org/drawingml/2006/main" prst="roundRect">
            <a:avLst>
              <a:gd name="adj" fmla="val 53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6" name="panel_qwen">
            <a:extLst xmlns:a="http://schemas.openxmlformats.org/drawingml/2006/main">
              <a:ext uri="{FF2B5EF4-FFF2-40B4-BE49-F238E27FC236}">
                <a16:creationId xmlns:a16="http://schemas.microsoft.com/office/drawing/2014/main" id="{4239D244-4544-424E-9A1C-618D26CA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257300"/>
            <a:ext cx="2152650" cy="4095750"/>
          </a:xfrm>
          <a:prstGeom xmlns:a="http://schemas.openxmlformats.org/drawingml/2006/main" prst="roundRect">
            <a:avLst>
              <a:gd name="adj" fmla="val 53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7" name="panel_relation">
            <a:extLst xmlns:a="http://schemas.openxmlformats.org/drawingml/2006/main">
              <a:ext uri="{FF2B5EF4-FFF2-40B4-BE49-F238E27FC236}">
                <a16:creationId xmlns:a16="http://schemas.microsoft.com/office/drawing/2014/main" id="{EF111AAA-262B-4C1F-AC1D-8568C784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257300"/>
            <a:ext cx="2095500" cy="4095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8" name="panel_utility">
            <a:extLst xmlns:a="http://schemas.openxmlformats.org/drawingml/2006/main">
              <a:ext uri="{FF2B5EF4-FFF2-40B4-BE49-F238E27FC236}">
                <a16:creationId xmlns:a16="http://schemas.microsoft.com/office/drawing/2014/main" id="{50C29C30-E9E8-4A24-9108-41655D3F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257300"/>
            <a:ext cx="2762250" cy="40957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panel_output">
            <a:extLst xmlns:a="http://schemas.openxmlformats.org/drawingml/2006/main">
              <a:ext uri="{FF2B5EF4-FFF2-40B4-BE49-F238E27FC236}">
                <a16:creationId xmlns:a16="http://schemas.microsoft.com/office/drawing/2014/main" id="{7A62C261-BC92-4941-88CB-E4E62CA3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257300"/>
            <a:ext cx="1924050" cy="40957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0" name="flow_12">
            <a:extLst xmlns:a="http://schemas.openxmlformats.org/drawingml/2006/main">
              <a:ext uri="{FF2B5EF4-FFF2-40B4-BE49-F238E27FC236}">
                <a16:creationId xmlns:a16="http://schemas.microsoft.com/office/drawing/2014/main" id="{D3C446C0-1855-44A2-99EA-764E81F7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956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4A3B8"/>
            </a:solidFill>
            <a:prstDash val="solid"/>
          </a:ln>
        </p:spPr>
      </p:sp>
      <p:sp>
        <p:nvSpPr>
          <p:cNvPr id="11" name="flow_23">
            <a:extLst xmlns:a="http://schemas.openxmlformats.org/drawingml/2006/main">
              <a:ext uri="{FF2B5EF4-FFF2-40B4-BE49-F238E27FC236}">
                <a16:creationId xmlns:a16="http://schemas.microsoft.com/office/drawing/2014/main" id="{BBABD47D-15C8-443C-9079-9C9A9911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2956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4A3B8"/>
            </a:solidFill>
            <a:prstDash val="solid"/>
          </a:ln>
        </p:spPr>
      </p:sp>
      <p:sp>
        <p:nvSpPr>
          <p:cNvPr id="12" name="flow_34">
            <a:extLst xmlns:a="http://schemas.openxmlformats.org/drawingml/2006/main">
              <a:ext uri="{FF2B5EF4-FFF2-40B4-BE49-F238E27FC236}">
                <a16:creationId xmlns:a16="http://schemas.microsoft.com/office/drawing/2014/main" id="{4509CCEF-0337-4C2A-8C7F-DDC20157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4A3B8"/>
            </a:solidFill>
            <a:prstDash val="solid"/>
          </a:ln>
        </p:spPr>
      </p:sp>
      <p:sp>
        <p:nvSpPr>
          <p:cNvPr id="13" name="flow_45">
            <a:extLst xmlns:a="http://schemas.openxmlformats.org/drawingml/2006/main">
              <a:ext uri="{FF2B5EF4-FFF2-40B4-BE49-F238E27FC236}">
                <a16:creationId xmlns:a16="http://schemas.microsoft.com/office/drawing/2014/main" id="{798D21DE-9A5E-451E-ABAD-90EB4ABE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5650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4A3B8"/>
            </a:solidFill>
            <a:prstDash val="solid"/>
          </a:ln>
        </p:spPr>
      </p:sp>
      <p:sp>
        <p:nvSpPr>
          <p:cNvPr id="14" name="p1_title">
            <a:extLst xmlns:a="http://schemas.openxmlformats.org/drawingml/2006/main">
              <a:ext uri="{FF2B5EF4-FFF2-40B4-BE49-F238E27FC236}">
                <a16:creationId xmlns:a16="http://schemas.microsoft.com/office/drawing/2014/main" id="{68F71575-77A9-42F4-B16E-A969E7D6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716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01  六路输入与历史合同</a:t>
            </a:r>
          </a:p>
        </p:txBody>
      </p:sp>
      <p:sp>
        <p:nvSpPr>
          <p:cNvPr id="15" name="current_header">
            <a:extLst xmlns:a="http://schemas.openxmlformats.org/drawingml/2006/main">
              <a:ext uri="{FF2B5EF4-FFF2-40B4-BE49-F238E27FC236}">
                <a16:creationId xmlns:a16="http://schemas.microsoft.com/office/drawing/2014/main" id="{D89BE99E-9BBB-486C-A1E8-3CE2D0AB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75260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当前 CURRENT</a:t>
            </a:r>
          </a:p>
        </p:txBody>
      </p:sp>
      <p:sp>
        <p:nvSpPr>
          <p:cNvPr id="16" name="history_header">
            <a:extLst xmlns:a="http://schemas.openxmlformats.org/drawingml/2006/main">
              <a:ext uri="{FF2B5EF4-FFF2-40B4-BE49-F238E27FC236}">
                <a16:creationId xmlns:a16="http://schemas.microsoft.com/office/drawing/2014/main" id="{BC6E22F0-2A27-46E6-B032-BF862E5F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7526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历史 HISTORY</a:t>
            </a:r>
          </a:p>
        </p:txBody>
      </p:sp>
      <p:sp>
        <p:nvSpPr>
          <p:cNvPr id="17" name="cur_0">
            <a:extLst xmlns:a="http://schemas.openxmlformats.org/drawingml/2006/main">
              <a:ext uri="{FF2B5EF4-FFF2-40B4-BE49-F238E27FC236}">
                <a16:creationId xmlns:a16="http://schemas.microsoft.com/office/drawing/2014/main" id="{BDFA9335-0AB3-4441-98A3-E7AE3B95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838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当前文本</a:t>
            </a:r>
          </a:p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Tₜ</a:t>
            </a:r>
          </a:p>
        </p:txBody>
      </p:sp>
      <p:sp>
        <p:nvSpPr>
          <p:cNvPr id="18" name="hist_0">
            <a:extLst xmlns:a="http://schemas.openxmlformats.org/drawingml/2006/main">
              <a:ext uri="{FF2B5EF4-FFF2-40B4-BE49-F238E27FC236}">
                <a16:creationId xmlns:a16="http://schemas.microsoft.com/office/drawing/2014/main" id="{8CE4601C-2496-4914-8340-1F851FB9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038350"/>
            <a:ext cx="876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历史文本</a:t>
            </a:r>
          </a:p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Tₕ</a:t>
            </a:r>
          </a:p>
        </p:txBody>
      </p:sp>
      <p:sp>
        <p:nvSpPr>
          <p:cNvPr id="19" name="cur_1">
            <a:extLst xmlns:a="http://schemas.openxmlformats.org/drawingml/2006/main">
              <a:ext uri="{FF2B5EF4-FFF2-40B4-BE49-F238E27FC236}">
                <a16:creationId xmlns:a16="http://schemas.microsoft.com/office/drawing/2014/main" id="{7B12522E-BD1F-489F-A432-997B1E5F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838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当前音频</a:t>
            </a:r>
          </a:p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Aₜ</a:t>
            </a:r>
          </a:p>
        </p:txBody>
      </p:sp>
      <p:sp>
        <p:nvSpPr>
          <p:cNvPr id="20" name="hist_1">
            <a:extLst xmlns:a="http://schemas.openxmlformats.org/drawingml/2006/main">
              <a:ext uri="{FF2B5EF4-FFF2-40B4-BE49-F238E27FC236}">
                <a16:creationId xmlns:a16="http://schemas.microsoft.com/office/drawing/2014/main" id="{11A6F9CF-4C82-40E8-B466-08B53DD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628900"/>
            <a:ext cx="876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历史音频</a:t>
            </a:r>
          </a:p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Aₕ</a:t>
            </a:r>
          </a:p>
        </p:txBody>
      </p:sp>
      <p:sp>
        <p:nvSpPr>
          <p:cNvPr id="21" name="cur_2">
            <a:extLst xmlns:a="http://schemas.openxmlformats.org/drawingml/2006/main">
              <a:ext uri="{FF2B5EF4-FFF2-40B4-BE49-F238E27FC236}">
                <a16:creationId xmlns:a16="http://schemas.microsoft.com/office/drawing/2014/main" id="{47C4C68A-360A-41B2-98BF-1C5F94BF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838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当前视频</a:t>
            </a:r>
          </a:p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Vₜ</a:t>
            </a:r>
          </a:p>
        </p:txBody>
      </p:sp>
      <p:sp>
        <p:nvSpPr>
          <p:cNvPr id="22" name="hist_2">
            <a:extLst xmlns:a="http://schemas.openxmlformats.org/drawingml/2006/main">
              <a:ext uri="{FF2B5EF4-FFF2-40B4-BE49-F238E27FC236}">
                <a16:creationId xmlns:a16="http://schemas.microsoft.com/office/drawing/2014/main" id="{BB1D79A1-B749-4D64-9B1E-7EB46BA1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19450"/>
            <a:ext cx="8763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历史视频</a:t>
            </a:r>
          </a:p>
          <a:p xmlns:a="http://schemas.openxmlformats.org/drawingml/2006/main">
            <a:pPr algn="ctr">
              <a:def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Vₕ</a:t>
            </a:r>
          </a:p>
        </p:txBody>
      </p:sp>
      <p:sp>
        <p:nvSpPr>
          <p:cNvPr id="23" name="history_contract">
            <a:extLst xmlns:a="http://schemas.openxmlformats.org/drawingml/2006/main">
              <a:ext uri="{FF2B5EF4-FFF2-40B4-BE49-F238E27FC236}">
                <a16:creationId xmlns:a16="http://schemas.microsoft.com/office/drawing/2014/main" id="{00289F4D-4EC6-4D1C-ABB1-A0911071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924300"/>
            <a:ext cx="18859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94A3B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严格过去 K=3</a:t>
            </a:r>
          </a:p>
          <a:p xmlns:a="http://schemas.openxmlformats.org/drawingml/2006/main">
            <a:pPr algn="ctr"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current_modality_mask [B,3]</a:t>
            </a:r>
          </a:p>
          <a:p xmlns:a="http://schemas.openxmlformats.org/drawingml/2006/main">
            <a:pPr algn="ctr"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history_mask [B,K]</a:t>
            </a:r>
          </a:p>
          <a:p xmlns:a="http://schemas.openxmlformats.org/drawingml/2006/main">
            <a:pPr algn="ctr"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history_modality_mask [B,K,3]</a:t>
            </a:r>
          </a:p>
          <a:p xmlns:a="http://schemas.openxmlformats.org/drawingml/2006/main">
            <a:pPr algn="ctr"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无历史 → 精确 current-only</a:t>
            </a:r>
          </a:p>
        </p:txBody>
      </p:sp>
      <p:sp>
        <p:nvSpPr>
          <p:cNvPr id="24" name="p2_title">
            <a:extLst xmlns:a="http://schemas.openxmlformats.org/drawingml/2006/main">
              <a:ext uri="{FF2B5EF4-FFF2-40B4-BE49-F238E27FC236}">
                <a16:creationId xmlns:a16="http://schemas.microsoft.com/office/drawing/2014/main" id="{25141FAA-473B-4037-ADD5-45C27A1C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3716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02  Qwen 三模态表征</a:t>
            </a:r>
          </a:p>
        </p:txBody>
      </p:sp>
      <p:sp>
        <p:nvSpPr>
          <p:cNvPr id="25" name="qwen_core">
            <a:extLst xmlns:a="http://schemas.openxmlformats.org/drawingml/2006/main">
              <a:ext uri="{FF2B5EF4-FFF2-40B4-BE49-F238E27FC236}">
                <a16:creationId xmlns:a16="http://schemas.microsoft.com/office/drawing/2014/main" id="{248630FA-4E94-4C9E-ACF6-DA4BD7FB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90700"/>
            <a:ext cx="17716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冻结 Qwen3-Omni</a:t>
            </a:r>
          </a:p>
          <a:p xmlns:a="http://schemas.openxmlformats.org/drawingml/2006/main">
            <a:pPr algn="ctr">
              <a:def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30B-A3B-Instruct</a:t>
            </a:r>
          </a:p>
          <a:p xmlns:a="http://schemas.openxmlformats.org/drawingml/2006/main">
            <a:pPr algn="ctr">
              <a:def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离线抽取 · 不训练主干</a:t>
            </a:r>
          </a:p>
        </p:txBody>
      </p:sp>
      <p:sp>
        <p:nvSpPr>
          <p:cNvPr id="26" name="qwen_text">
            <a:extLst xmlns:a="http://schemas.openxmlformats.org/drawingml/2006/main">
              <a:ext uri="{FF2B5EF4-FFF2-40B4-BE49-F238E27FC236}">
                <a16:creationId xmlns:a16="http://schemas.microsoft.com/office/drawing/2014/main" id="{E63A5932-20D9-4F08-A3B9-073B4EB9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43200"/>
            <a:ext cx="523875" cy="6286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文本</a:t>
            </a:r>
          </a:p>
          <a:p xmlns:a="http://schemas.openxmlformats.org/drawingml/2006/main">
            <a:pPr algn="ctr">
              <a:def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→ zᵀ</a:t>
            </a:r>
          </a:p>
        </p:txBody>
      </p:sp>
      <p:sp>
        <p:nvSpPr>
          <p:cNvPr id="27" name="qwen_audio">
            <a:extLst xmlns:a="http://schemas.openxmlformats.org/drawingml/2006/main">
              <a:ext uri="{FF2B5EF4-FFF2-40B4-BE49-F238E27FC236}">
                <a16:creationId xmlns:a16="http://schemas.microsoft.com/office/drawing/2014/main" id="{5AD0EF84-504E-4CE7-9C7B-E3136AEA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743200"/>
            <a:ext cx="523875" cy="6286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音频</a:t>
            </a:r>
          </a:p>
          <a:p xmlns:a="http://schemas.openxmlformats.org/drawingml/2006/main">
            <a:pPr algn="ctr">
              <a:defRPr sz="10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→ zᴬ</a:t>
            </a:r>
          </a:p>
        </p:txBody>
      </p:sp>
      <p:sp>
        <p:nvSpPr>
          <p:cNvPr id="28" name="qwen_video">
            <a:extLst xmlns:a="http://schemas.openxmlformats.org/drawingml/2006/main">
              <a:ext uri="{FF2B5EF4-FFF2-40B4-BE49-F238E27FC236}">
                <a16:creationId xmlns:a16="http://schemas.microsoft.com/office/drawing/2014/main" id="{9FF62434-0AE0-4615-8799-56D29D96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43200"/>
            <a:ext cx="523875" cy="6286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14288">
            <a:solidFill>
              <a:srgbClr val="F03E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视频</a:t>
            </a:r>
          </a:p>
          <a:p xmlns:a="http://schemas.openxmlformats.org/drawingml/2006/main">
            <a:pPr algn="ctr">
              <a:defRPr sz="10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→ zⱽ</a:t>
            </a:r>
          </a:p>
        </p:txBody>
      </p:sp>
      <p:sp>
        <p:nvSpPr>
          <p:cNvPr id="29" name="separate_cache">
            <a:extLst xmlns:a="http://schemas.openxmlformats.org/drawingml/2006/main">
              <a:ext uri="{FF2B5EF4-FFF2-40B4-BE49-F238E27FC236}">
                <a16:creationId xmlns:a16="http://schemas.microsoft.com/office/drawing/2014/main" id="{E604FA47-F460-4D53-B607-7E3BE594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543300"/>
            <a:ext cx="1771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94A3B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三路分别缓存 · 保存 provenance</a:t>
            </a:r>
          </a:p>
          <a:p xmlns:a="http://schemas.openxmlformats.org/drawingml/2006/main">
            <a:pPr algn="ctr">
              <a:defRPr sz="90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禁止只保留混合向量</a:t>
            </a:r>
          </a:p>
        </p:txBody>
      </p:sp>
      <p:sp>
        <p:nvSpPr>
          <p:cNvPr id="30" name="projector">
            <a:extLst xmlns:a="http://schemas.openxmlformats.org/drawingml/2006/main">
              <a:ext uri="{FF2B5EF4-FFF2-40B4-BE49-F238E27FC236}">
                <a16:creationId xmlns:a16="http://schemas.microsoft.com/office/drawing/2014/main" id="{ECF76DCB-1F5A-43D2-AEB2-E2331923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48150"/>
            <a:ext cx="17716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ModalityProjector</a:t>
            </a:r>
          </a:p>
          <a:p xmlns:a="http://schemas.openxmlformats.org/drawingml/2006/main">
            <a:pPr algn="ctr">
              <a:defRPr sz="975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Qwen 原始维度 → d_model=128</a:t>
            </a:r>
          </a:p>
        </p:txBody>
      </p:sp>
      <p:sp>
        <p:nvSpPr>
          <p:cNvPr id="31" name="baseline_note">
            <a:extLst xmlns:a="http://schemas.openxmlformats.org/drawingml/2006/main">
              <a:ext uri="{FF2B5EF4-FFF2-40B4-BE49-F238E27FC236}">
                <a16:creationId xmlns:a16="http://schemas.microsoft.com/office/drawing/2014/main" id="{92241BD1-CCC6-4F5B-A542-1985EF3D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9585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专用情感编码器：未来 baseline / 消融</a:t>
            </a:r>
          </a:p>
        </p:txBody>
      </p:sp>
      <p:sp>
        <p:nvSpPr>
          <p:cNvPr id="32" name="p3_title">
            <a:extLst xmlns:a="http://schemas.openxmlformats.org/drawingml/2006/main">
              <a:ext uri="{FF2B5EF4-FFF2-40B4-BE49-F238E27FC236}">
                <a16:creationId xmlns:a16="http://schemas.microsoft.com/office/drawing/2014/main" id="{B60ADC3E-3C00-4AF7-9F4C-DBE0E6DE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37160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03  3×3 情感关系</a:t>
            </a:r>
          </a:p>
        </p:txBody>
      </p:sp>
      <p:sp>
        <p:nvSpPr>
          <p:cNvPr id="33" name="matrix_cols">
            <a:extLst xmlns:a="http://schemas.openxmlformats.org/drawingml/2006/main">
              <a:ext uri="{FF2B5EF4-FFF2-40B4-BE49-F238E27FC236}">
                <a16:creationId xmlns:a16="http://schemas.microsoft.com/office/drawing/2014/main" id="{D68CE66D-61EA-4019-A7D6-951B213D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526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历史：Tₕ       Aₕ       Vₕ</a:t>
            </a:r>
          </a:p>
        </p:txBody>
      </p:sp>
      <p:sp>
        <p:nvSpPr>
          <p:cNvPr id="34" name="matrix_rows">
            <a:extLst xmlns:a="http://schemas.openxmlformats.org/drawingml/2006/main">
              <a:ext uri="{FF2B5EF4-FFF2-40B4-BE49-F238E27FC236}">
                <a16:creationId xmlns:a16="http://schemas.microsoft.com/office/drawing/2014/main" id="{A832A661-CA31-41E3-A498-425A1A9A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57400"/>
            <a:ext cx="3238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</a:t>
            </a:r>
          </a:p>
          <a:p xmlns:a="http://schemas.openxmlformats.org/drawingml/2006/main">
            <a:pPr algn="ctr"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Tₜ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Vₜ</a:t>
            </a:r>
          </a:p>
        </p:txBody>
      </p:sp>
      <p:sp>
        <p:nvSpPr>
          <p:cNvPr id="35" name="relation_0_0">
            <a:extLst xmlns:a="http://schemas.openxmlformats.org/drawingml/2006/main">
              <a:ext uri="{FF2B5EF4-FFF2-40B4-BE49-F238E27FC236}">
                <a16:creationId xmlns:a16="http://schemas.microsoft.com/office/drawing/2014/main" id="{AFD64A0F-660D-4309-BA49-553BCBDE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574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T‑T</a:t>
            </a:r>
          </a:p>
        </p:txBody>
      </p:sp>
      <p:sp>
        <p:nvSpPr>
          <p:cNvPr id="36" name="relation_0_1">
            <a:extLst xmlns:a="http://schemas.openxmlformats.org/drawingml/2006/main">
              <a:ext uri="{FF2B5EF4-FFF2-40B4-BE49-F238E27FC236}">
                <a16:creationId xmlns:a16="http://schemas.microsoft.com/office/drawing/2014/main" id="{F527B790-79CD-4D66-BCB3-E4D571C7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0574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T‑A</a:t>
            </a:r>
          </a:p>
        </p:txBody>
      </p:sp>
      <p:sp>
        <p:nvSpPr>
          <p:cNvPr id="37" name="relation_0_2">
            <a:extLst xmlns:a="http://schemas.openxmlformats.org/drawingml/2006/main">
              <a:ext uri="{FF2B5EF4-FFF2-40B4-BE49-F238E27FC236}">
                <a16:creationId xmlns:a16="http://schemas.microsoft.com/office/drawing/2014/main" id="{F95D1E6C-A9E3-470D-9DB8-2499EBAA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574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14288">
            <a:solidFill>
              <a:srgbClr val="F03E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T‑V</a:t>
            </a:r>
          </a:p>
        </p:txBody>
      </p:sp>
      <p:sp>
        <p:nvSpPr>
          <p:cNvPr id="38" name="relation_1_0">
            <a:extLst xmlns:a="http://schemas.openxmlformats.org/drawingml/2006/main">
              <a:ext uri="{FF2B5EF4-FFF2-40B4-BE49-F238E27FC236}">
                <a16:creationId xmlns:a16="http://schemas.microsoft.com/office/drawing/2014/main" id="{0CC2AD8B-1AE4-41E0-ACE4-835492C6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A‑T</a:t>
            </a:r>
          </a:p>
        </p:txBody>
      </p:sp>
      <p:sp>
        <p:nvSpPr>
          <p:cNvPr id="39" name="relation_1_1">
            <a:extLst xmlns:a="http://schemas.openxmlformats.org/drawingml/2006/main">
              <a:ext uri="{FF2B5EF4-FFF2-40B4-BE49-F238E27FC236}">
                <a16:creationId xmlns:a16="http://schemas.microsoft.com/office/drawing/2014/main" id="{4FEC8DA2-5696-4C96-A684-767A96A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5527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A‑A</a:t>
            </a:r>
          </a:p>
        </p:txBody>
      </p:sp>
      <p:sp>
        <p:nvSpPr>
          <p:cNvPr id="40" name="relation_1_2">
            <a:extLst xmlns:a="http://schemas.openxmlformats.org/drawingml/2006/main">
              <a:ext uri="{FF2B5EF4-FFF2-40B4-BE49-F238E27FC236}">
                <a16:creationId xmlns:a16="http://schemas.microsoft.com/office/drawing/2014/main" id="{C76D278E-B668-4461-9206-FE0F9BE4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527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14288">
            <a:solidFill>
              <a:srgbClr val="F03E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A‑V</a:t>
            </a:r>
          </a:p>
        </p:txBody>
      </p:sp>
      <p:sp>
        <p:nvSpPr>
          <p:cNvPr id="41" name="relation_2_0">
            <a:extLst xmlns:a="http://schemas.openxmlformats.org/drawingml/2006/main">
              <a:ext uri="{FF2B5EF4-FFF2-40B4-BE49-F238E27FC236}">
                <a16:creationId xmlns:a16="http://schemas.microsoft.com/office/drawing/2014/main" id="{EF253822-9C9A-4BC0-8698-58203A8B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480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V‑T</a:t>
            </a:r>
          </a:p>
        </p:txBody>
      </p:sp>
      <p:sp>
        <p:nvSpPr>
          <p:cNvPr id="42" name="relation_2_1">
            <a:extLst xmlns:a="http://schemas.openxmlformats.org/drawingml/2006/main">
              <a:ext uri="{FF2B5EF4-FFF2-40B4-BE49-F238E27FC236}">
                <a16:creationId xmlns:a16="http://schemas.microsoft.com/office/drawing/2014/main" id="{787431F8-5670-4255-802F-86ACB54C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0480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V‑A</a:t>
            </a:r>
          </a:p>
        </p:txBody>
      </p:sp>
      <p:sp>
        <p:nvSpPr>
          <p:cNvPr id="43" name="relation_2_2">
            <a:extLst xmlns:a="http://schemas.openxmlformats.org/drawingml/2006/main">
              <a:ext uri="{FF2B5EF4-FFF2-40B4-BE49-F238E27FC236}">
                <a16:creationId xmlns:a16="http://schemas.microsoft.com/office/drawing/2014/main" id="{19766DE0-E67C-4DCF-A828-41DDF47F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476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14288">
            <a:solidFill>
              <a:srgbClr val="F03E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V‑V</a:t>
            </a:r>
          </a:p>
        </p:txBody>
      </p:sp>
      <p:sp>
        <p:nvSpPr>
          <p:cNvPr id="44" name="relation_evidence">
            <a:extLst xmlns:a="http://schemas.openxmlformats.org/drawingml/2006/main">
              <a:ext uri="{FF2B5EF4-FFF2-40B4-BE49-F238E27FC236}">
                <a16:creationId xmlns:a16="http://schemas.microsoft.com/office/drawing/2014/main" id="{8999224F-E85B-47BB-B242-233E4B4F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695700"/>
            <a:ext cx="16192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对每条历史 hₖ 分别计算</a:t>
            </a:r>
          </a:p>
          <a:p xmlns:a="http://schemas.openxmlformats.org/drawingml/2006/main">
            <a:pPr algn="ctr">
              <a:def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ΔVAD · 惯性 · 转折 · 恢复</a:t>
            </a:r>
          </a:p>
          <a:p xmlns:a="http://schemas.openxmlformats.org/drawingml/2006/main">
            <a:pPr algn="ctr">
              <a:def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跨模态一致 / 冲突</a:t>
            </a:r>
          </a:p>
          <a:p xmlns:a="http://schemas.openxmlformats.org/drawingml/2006/main">
            <a:pPr algn="ctr">
              <a:def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时间 · 说话人 · 模态质量</a:t>
            </a:r>
          </a:p>
        </p:txBody>
      </p:sp>
      <p:sp>
        <p:nvSpPr>
          <p:cNvPr id="45" name="relation_note">
            <a:extLst xmlns:a="http://schemas.openxmlformats.org/drawingml/2006/main">
              <a:ext uri="{FF2B5EF4-FFF2-40B4-BE49-F238E27FC236}">
                <a16:creationId xmlns:a16="http://schemas.microsoft.com/office/drawing/2014/main" id="{438A192A-2DAD-4C4B-BC6E-31675550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33950"/>
            <a:ext cx="1600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禁止先把 K 条历史聚合</a:t>
            </a:r>
          </a:p>
        </p:txBody>
      </p:sp>
      <p:sp>
        <p:nvSpPr>
          <p:cNvPr id="46" name="u_text_to_sem">
            <a:extLst xmlns:a="http://schemas.openxmlformats.org/drawingml/2006/main">
              <a:ext uri="{FF2B5EF4-FFF2-40B4-BE49-F238E27FC236}">
                <a16:creationId xmlns:a16="http://schemas.microsoft.com/office/drawing/2014/main" id="{9F600244-58A3-40AB-8054-29FFA37B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47950"/>
            <a:ext cx="36195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59F00"/>
            </a:solidFill>
            <a:prstDash val="solid"/>
          </a:ln>
        </p:spPr>
      </p:sp>
      <p:sp>
        <p:nvSpPr>
          <p:cNvPr id="47" name="u_audio_to_sem">
            <a:extLst xmlns:a="http://schemas.openxmlformats.org/drawingml/2006/main">
              <a:ext uri="{FF2B5EF4-FFF2-40B4-BE49-F238E27FC236}">
                <a16:creationId xmlns:a16="http://schemas.microsoft.com/office/drawing/2014/main" id="{9D630F28-C955-4293-81F0-CC44CB30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64795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59F00"/>
            </a:solidFill>
            <a:prstDash val="solid"/>
          </a:ln>
        </p:spPr>
      </p:sp>
      <p:sp>
        <p:nvSpPr>
          <p:cNvPr id="48" name="u_video_to_sem">
            <a:extLst xmlns:a="http://schemas.openxmlformats.org/drawingml/2006/main">
              <a:ext uri="{FF2B5EF4-FFF2-40B4-BE49-F238E27FC236}">
                <a16:creationId xmlns:a16="http://schemas.microsoft.com/office/drawing/2014/main" id="{4CB3295B-4D66-427D-9177-DCC9081B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47950"/>
            <a:ext cx="36195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59F00"/>
            </a:solidFill>
            <a:prstDash val="solid"/>
          </a:ln>
        </p:spPr>
      </p:sp>
      <p:sp>
        <p:nvSpPr>
          <p:cNvPr id="49" name="sem_to_joint">
            <a:extLst xmlns:a="http://schemas.openxmlformats.org/drawingml/2006/main">
              <a:ext uri="{FF2B5EF4-FFF2-40B4-BE49-F238E27FC236}">
                <a16:creationId xmlns:a16="http://schemas.microsoft.com/office/drawing/2014/main" id="{53F79119-DCEF-4DAE-B6ED-477F5725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3528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59F00"/>
            </a:solidFill>
            <a:prstDash val="solid"/>
          </a:ln>
        </p:spPr>
      </p:sp>
      <p:sp>
        <p:nvSpPr>
          <p:cNvPr id="50" name="joint_to_gate">
            <a:extLst xmlns:a="http://schemas.openxmlformats.org/drawingml/2006/main">
              <a:ext uri="{FF2B5EF4-FFF2-40B4-BE49-F238E27FC236}">
                <a16:creationId xmlns:a16="http://schemas.microsoft.com/office/drawing/2014/main" id="{C5E5EAEC-4313-4403-ADD9-34D9A300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076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B886"/>
            </a:solidFill>
            <a:prstDash val="solid"/>
          </a:ln>
        </p:spPr>
      </p:sp>
      <p:sp>
        <p:nvSpPr>
          <p:cNvPr id="51" name="gate_to_fallback">
            <a:extLst xmlns:a="http://schemas.openxmlformats.org/drawingml/2006/main">
              <a:ext uri="{FF2B5EF4-FFF2-40B4-BE49-F238E27FC236}">
                <a16:creationId xmlns:a16="http://schemas.microsoft.com/office/drawing/2014/main" id="{FAD0853E-F26C-42DC-B532-243F28EF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815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64748B"/>
            </a:solidFill>
            <a:prstDash val="dash"/>
          </a:ln>
        </p:spPr>
      </p:sp>
      <p:sp>
        <p:nvSpPr>
          <p:cNvPr id="52" name="p4_title">
            <a:extLst xmlns:a="http://schemas.openxmlformats.org/drawingml/2006/main">
              <a:ext uri="{FF2B5EF4-FFF2-40B4-BE49-F238E27FC236}">
                <a16:creationId xmlns:a16="http://schemas.microsoft.com/office/drawing/2014/main" id="{56AE1EA4-CC88-4C49-BDA9-27C19067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71600"/>
            <a:ext cx="245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04  双向效用与安全门控</a:t>
            </a:r>
          </a:p>
        </p:txBody>
      </p:sp>
      <p:sp>
        <p:nvSpPr>
          <p:cNvPr id="53" name="utility_text">
            <a:extLst xmlns:a="http://schemas.openxmlformats.org/drawingml/2006/main">
              <a:ext uri="{FF2B5EF4-FFF2-40B4-BE49-F238E27FC236}">
                <a16:creationId xmlns:a16="http://schemas.microsoft.com/office/drawing/2014/main" id="{F33A0DD7-158E-4696-A887-EFCCE601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885950"/>
            <a:ext cx="7810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EF6FF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文本 Uᵀ</a:t>
            </a:r>
          </a:p>
          <a:p xmlns:a="http://schemas.openxmlformats.org/drawingml/2006/main">
            <a:pPr algn="ctr">
              <a:def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M⁺ 加入</a:t>
            </a:r>
          </a:p>
          <a:p xmlns:a="http://schemas.openxmlformats.org/drawingml/2006/main">
            <a:pPr algn="ctr">
              <a:def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M⁻ 删除风险</a:t>
            </a:r>
          </a:p>
        </p:txBody>
      </p:sp>
      <p:sp>
        <p:nvSpPr>
          <p:cNvPr id="54" name="utility_audio">
            <a:extLst xmlns:a="http://schemas.openxmlformats.org/drawingml/2006/main">
              <a:ext uri="{FF2B5EF4-FFF2-40B4-BE49-F238E27FC236}">
                <a16:creationId xmlns:a16="http://schemas.microsoft.com/office/drawing/2014/main" id="{0BA13912-6741-4122-9475-A04B8932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85950"/>
            <a:ext cx="7810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音频 Uᴬ</a:t>
            </a:r>
          </a:p>
          <a:p xmlns:a="http://schemas.openxmlformats.org/drawingml/2006/main">
            <a:pPr algn="ctr">
              <a:def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M⁺ 加入</a:t>
            </a:r>
          </a:p>
          <a:p xmlns:a="http://schemas.openxmlformats.org/drawingml/2006/main">
            <a:pPr algn="ctr">
              <a:def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M⁻ 删除风险</a:t>
            </a:r>
          </a:p>
        </p:txBody>
      </p:sp>
      <p:sp>
        <p:nvSpPr>
          <p:cNvPr id="55" name="utility_video">
            <a:extLst xmlns:a="http://schemas.openxmlformats.org/drawingml/2006/main">
              <a:ext uri="{FF2B5EF4-FFF2-40B4-BE49-F238E27FC236}">
                <a16:creationId xmlns:a16="http://schemas.microsoft.com/office/drawing/2014/main" id="{DB83098E-B2B0-40C2-8153-8F58129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85950"/>
            <a:ext cx="7810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F3"/>
          </a:solidFill>
          <a:ln xmlns:a="http://schemas.openxmlformats.org/drawingml/2006/main" w="14288">
            <a:solidFill>
              <a:srgbClr val="F03E6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视频 Uⱽ</a:t>
            </a:r>
          </a:p>
          <a:p xmlns:a="http://schemas.openxmlformats.org/drawingml/2006/main">
            <a:pPr algn="ctr">
              <a:def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M⁺ 加入</a:t>
            </a:r>
          </a:p>
          <a:p xmlns:a="http://schemas.openxmlformats.org/drawingml/2006/main">
            <a:pPr algn="ctr">
              <a:def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C2255C"/>
                </a:solidFill>
                <a:latin typeface="Microsoft YaHei"/>
                <a:ea typeface="Microsoft YaHei"/>
                <a:cs typeface="Microsoft YaHei"/>
              </a:rPr>
              <a:t>M⁻ 删除风险</a:t>
            </a:r>
          </a:p>
        </p:txBody>
      </p:sp>
      <p:sp>
        <p:nvSpPr>
          <p:cNvPr id="56" name="utility_semantics">
            <a:extLst xmlns:a="http://schemas.openxmlformats.org/drawingml/2006/main">
              <a:ext uri="{FF2B5EF4-FFF2-40B4-BE49-F238E27FC236}">
                <a16:creationId xmlns:a16="http://schemas.microsoft.com/office/drawing/2014/main" id="{A9E256A3-AEE8-448E-8780-1485D4D7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57500"/>
            <a:ext cx="24574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9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M⁺&gt;0：加入有益 · M⁻&gt;0：保留有害</a:t>
            </a:r>
          </a:p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前向背景 S 与后向背景 R 不同</a:t>
            </a:r>
          </a:p>
        </p:txBody>
      </p:sp>
      <p:sp>
        <p:nvSpPr>
          <p:cNvPr id="57" name="joint_utility">
            <a:extLst xmlns:a="http://schemas.openxmlformats.org/drawingml/2006/main">
              <a:ext uri="{FF2B5EF4-FFF2-40B4-BE49-F238E27FC236}">
                <a16:creationId xmlns:a16="http://schemas.microsoft.com/office/drawing/2014/main" id="{8D163879-9B74-4C07-9440-82F783CF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543300"/>
            <a:ext cx="2057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9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联合效用 Ujoint + 跨模态残差</a:t>
            </a:r>
          </a:p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Ucross = Ujoint − ΣₘUₘ（双方向）</a:t>
            </a:r>
          </a:p>
        </p:txBody>
      </p:sp>
      <p:sp>
        <p:nvSpPr>
          <p:cNvPr id="58" name="risk_gate">
            <a:extLst xmlns:a="http://schemas.openxmlformats.org/drawingml/2006/main">
              <a:ext uri="{FF2B5EF4-FFF2-40B4-BE49-F238E27FC236}">
                <a16:creationId xmlns:a16="http://schemas.microsoft.com/office/drawing/2014/main" id="{6AA0D0CA-16FB-4135-A57D-CC9355FB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267200"/>
            <a:ext cx="20574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两级风险门控</a:t>
            </a:r>
          </a:p>
          <a:p xmlns:a="http://schemas.openxmlformats.org/drawingml/2006/main">
            <a:pPr algn="ctr">
              <a:def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模态级 → 历史级</a:t>
            </a:r>
          </a:p>
        </p:txBody>
      </p:sp>
      <p:sp>
        <p:nvSpPr>
          <p:cNvPr id="59" name="fallback">
            <a:extLst xmlns:a="http://schemas.openxmlformats.org/drawingml/2006/main">
              <a:ext uri="{FF2B5EF4-FFF2-40B4-BE49-F238E27FC236}">
                <a16:creationId xmlns:a16="http://schemas.microsoft.com/office/drawing/2014/main" id="{C09336DF-F68C-4CA0-A3D6-24646665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933950"/>
            <a:ext cx="20574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94A3B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不确定 / 有害 → current-only</a:t>
            </a:r>
          </a:p>
        </p:txBody>
      </p:sp>
      <p:sp>
        <p:nvSpPr>
          <p:cNvPr id="60" name="fusion_to_cls">
            <a:extLst xmlns:a="http://schemas.openxmlformats.org/drawingml/2006/main">
              <a:ext uri="{FF2B5EF4-FFF2-40B4-BE49-F238E27FC236}">
                <a16:creationId xmlns:a16="http://schemas.microsoft.com/office/drawing/2014/main" id="{4C27190A-E49F-4EFB-818B-9D63124B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238125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B886"/>
            </a:solidFill>
            <a:prstDash val="solid"/>
          </a:ln>
        </p:spPr>
      </p:sp>
      <p:sp>
        <p:nvSpPr>
          <p:cNvPr id="61" name="cls_to_out">
            <a:extLst xmlns:a="http://schemas.openxmlformats.org/drawingml/2006/main">
              <a:ext uri="{FF2B5EF4-FFF2-40B4-BE49-F238E27FC236}">
                <a16:creationId xmlns:a16="http://schemas.microsoft.com/office/drawing/2014/main" id="{32936C24-3A3C-49C4-96C7-9FDEEAA5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312420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B886"/>
            </a:solidFill>
            <a:prstDash val="solid"/>
          </a:ln>
        </p:spPr>
      </p:sp>
      <p:sp>
        <p:nvSpPr>
          <p:cNvPr id="62" name="out_to_gate">
            <a:extLst xmlns:a="http://schemas.openxmlformats.org/drawingml/2006/main">
              <a:ext uri="{FF2B5EF4-FFF2-40B4-BE49-F238E27FC236}">
                <a16:creationId xmlns:a16="http://schemas.microsoft.com/office/drawing/2014/main" id="{303BE0EB-6B94-4C70-B99B-8D2FCA59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38862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B886"/>
            </a:solidFill>
            <a:prstDash val="solid"/>
          </a:ln>
        </p:spPr>
      </p:sp>
      <p:sp>
        <p:nvSpPr>
          <p:cNvPr id="63" name="p5_title">
            <a:extLst xmlns:a="http://schemas.openxmlformats.org/drawingml/2006/main">
              <a:ext uri="{FF2B5EF4-FFF2-40B4-BE49-F238E27FC236}">
                <a16:creationId xmlns:a16="http://schemas.microsoft.com/office/drawing/2014/main" id="{3D04491B-2314-4201-A1FE-6B604663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3716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05  分类与证据</a:t>
            </a:r>
          </a:p>
        </p:txBody>
      </p:sp>
      <p:sp>
        <p:nvSpPr>
          <p:cNvPr id="64" name="fusion">
            <a:extLst xmlns:a="http://schemas.openxmlformats.org/drawingml/2006/main">
              <a:ext uri="{FF2B5EF4-FFF2-40B4-BE49-F238E27FC236}">
                <a16:creationId xmlns:a16="http://schemas.microsoft.com/office/drawing/2014/main" id="{2D20D5B3-8595-47A2-8A7A-65F1130E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47850"/>
            <a:ext cx="1543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多模态情感融合</a:t>
            </a:r>
          </a:p>
          <a:p xmlns:a="http://schemas.openxmlformats.org/drawingml/2006/main">
            <a:pPr algn="ctr">
              <a:defRPr sz="975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A：直接 · B：门控后</a:t>
            </a:r>
          </a:p>
        </p:txBody>
      </p:sp>
      <p:sp>
        <p:nvSpPr>
          <p:cNvPr id="65" name="classifier">
            <a:extLst xmlns:a="http://schemas.openxmlformats.org/drawingml/2006/main">
              <a:ext uri="{FF2B5EF4-FFF2-40B4-BE49-F238E27FC236}">
                <a16:creationId xmlns:a16="http://schemas.microsoft.com/office/drawing/2014/main" id="{1EE98B01-01E0-4A5B-8FD2-20A0D6BE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47950"/>
            <a:ext cx="15430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Emotion classifier</a:t>
            </a:r>
          </a:p>
        </p:txBody>
      </p:sp>
      <p:sp>
        <p:nvSpPr>
          <p:cNvPr id="66" name="emotion_output">
            <a:extLst xmlns:a="http://schemas.openxmlformats.org/drawingml/2006/main">
              <a:ext uri="{FF2B5EF4-FFF2-40B4-BE49-F238E27FC236}">
                <a16:creationId xmlns:a16="http://schemas.microsoft.com/office/drawing/2014/main" id="{9B9F5421-5308-44F3-A671-B57EACA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390900"/>
            <a:ext cx="1543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情绪概率 · 标签</a:t>
            </a:r>
          </a:p>
          <a:p xmlns:a="http://schemas.openxmlformats.org/drawingml/2006/main">
            <a:pPr algn="ctr">
              <a:def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置信度</a:t>
            </a:r>
          </a:p>
        </p:txBody>
      </p:sp>
      <p:sp>
        <p:nvSpPr>
          <p:cNvPr id="67" name="success_gate">
            <a:extLst xmlns:a="http://schemas.openxmlformats.org/drawingml/2006/main">
              <a:ext uri="{FF2B5EF4-FFF2-40B4-BE49-F238E27FC236}">
                <a16:creationId xmlns:a16="http://schemas.microsoft.com/office/drawing/2014/main" id="{3AA83E55-19D3-4E8B-B9E0-913FCE8F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171950"/>
            <a:ext cx="16573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BF3"/>
          </a:solidFill>
          <a:ln xmlns:a="http://schemas.openxmlformats.org/drawingml/2006/main" w="14288">
            <a:solidFill>
              <a:srgbClr val="0CA6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真实分类增益验证</a:t>
            </a:r>
          </a:p>
          <a:p xmlns:a="http://schemas.openxmlformats.org/drawingml/2006/main">
            <a:pPr algn="ctr">
              <a:def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逐数据集预注册主指标 ↑</a:t>
            </a:r>
          </a:p>
          <a:p xmlns:a="http://schemas.openxmlformats.org/drawingml/2006/main">
            <a:pPr algn="ctr">
              <a:def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&gt; current-only</a:t>
            </a:r>
          </a:p>
          <a:p xmlns:a="http://schemas.openxmlformats.org/drawingml/2006/main">
            <a:pPr algn="ctr">
              <a:def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&gt; 最强历史基线</a:t>
            </a:r>
          </a:p>
          <a:p xmlns:a="http://schemas.openxmlformats.org/drawingml/2006/main">
            <a:pPr algn="ctr">
              <a:def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次指标不明显下降</a:t>
            </a:r>
          </a:p>
        </p:txBody>
      </p:sp>
      <p:sp>
        <p:nvSpPr>
          <p:cNvPr id="68" name="seed_note">
            <a:extLst xmlns:a="http://schemas.openxmlformats.org/drawingml/2006/main">
              <a:ext uri="{FF2B5EF4-FFF2-40B4-BE49-F238E27FC236}">
                <a16:creationId xmlns:a16="http://schemas.microsoft.com/office/drawing/2014/main" id="{892BF851-BE12-4291-960B-5132DEB3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673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≥5 seeds · 分组配对 95% CI</a:t>
            </a:r>
          </a:p>
        </p:txBody>
      </p:sp>
      <p:sp>
        <p:nvSpPr>
          <p:cNvPr id="69" name="execution_panel">
            <a:extLst xmlns:a="http://schemas.openxmlformats.org/drawingml/2006/main">
              <a:ext uri="{FF2B5EF4-FFF2-40B4-BE49-F238E27FC236}">
                <a16:creationId xmlns:a16="http://schemas.microsoft.com/office/drawing/2014/main" id="{599F1D3E-5502-42CA-A035-07BE4F47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5467350"/>
            <a:ext cx="116967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70" name="execution_title">
            <a:extLst xmlns:a="http://schemas.openxmlformats.org/drawingml/2006/main">
              <a:ext uri="{FF2B5EF4-FFF2-40B4-BE49-F238E27FC236}">
                <a16:creationId xmlns:a16="http://schemas.microsoft.com/office/drawing/2014/main" id="{3F94F92C-B287-44C1-95C6-C566D556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435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执行与确认路径（标签隔离）</a:t>
            </a:r>
          </a:p>
        </p:txBody>
      </p:sp>
      <p:sp>
        <p:nvSpPr>
          <p:cNvPr id="71" name="exec_arrow_0">
            <a:extLst xmlns:a="http://schemas.openxmlformats.org/drawingml/2006/main">
              <a:ext uri="{FF2B5EF4-FFF2-40B4-BE49-F238E27FC236}">
                <a16:creationId xmlns:a16="http://schemas.microsoft.com/office/drawing/2014/main" id="{D0E0114C-5185-487A-A8E3-E97433F4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61341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4A3B8"/>
            </a:solidFill>
            <a:prstDash val="solid"/>
          </a:ln>
        </p:spPr>
      </p:sp>
      <p:sp>
        <p:nvSpPr>
          <p:cNvPr id="72" name="exec_arrow_1">
            <a:extLst xmlns:a="http://schemas.openxmlformats.org/drawingml/2006/main">
              <a:ext uri="{FF2B5EF4-FFF2-40B4-BE49-F238E27FC236}">
                <a16:creationId xmlns:a16="http://schemas.microsoft.com/office/drawing/2014/main" id="{619DA679-3A11-404E-8CB5-7A607D01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61341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4A3B8"/>
            </a:solidFill>
            <a:prstDash val="solid"/>
          </a:ln>
        </p:spPr>
      </p:sp>
      <p:sp>
        <p:nvSpPr>
          <p:cNvPr id="73" name="exec_arrow_2">
            <a:extLst xmlns:a="http://schemas.openxmlformats.org/drawingml/2006/main">
              <a:ext uri="{FF2B5EF4-FFF2-40B4-BE49-F238E27FC236}">
                <a16:creationId xmlns:a16="http://schemas.microsoft.com/office/drawing/2014/main" id="{B0E8CC28-0900-43B8-902C-591A234B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61341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4A3B8"/>
            </a:solidFill>
            <a:prstDash val="solid"/>
          </a:ln>
        </p:spPr>
      </p:sp>
      <p:sp>
        <p:nvSpPr>
          <p:cNvPr id="74" name="exec_arrow_3">
            <a:extLst xmlns:a="http://schemas.openxmlformats.org/drawingml/2006/main">
              <a:ext uri="{FF2B5EF4-FFF2-40B4-BE49-F238E27FC236}">
                <a16:creationId xmlns:a16="http://schemas.microsoft.com/office/drawing/2014/main" id="{610879B2-B3C7-404F-9E5B-8E9F61FE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61341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4A3B8"/>
            </a:solidFill>
            <a:prstDash val="solid"/>
          </a:ln>
        </p:spPr>
      </p:sp>
      <p:sp>
        <p:nvSpPr>
          <p:cNvPr id="75" name="exec1">
            <a:extLst xmlns:a="http://schemas.openxmlformats.org/drawingml/2006/main">
              <a:ext uri="{FF2B5EF4-FFF2-40B4-BE49-F238E27FC236}">
                <a16:creationId xmlns:a16="http://schemas.microsoft.com/office/drawing/2014/main" id="{AFB494D2-5495-423D-B436-9B1B7687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15811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94A3B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① Phase A</a:t>
            </a:r>
          </a:p>
          <a:p xmlns:a="http://schemas.openxmlformats.org/drawingml/2006/main">
            <a:pPr algn="ctr">
              <a:def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单样本 → 32/8 → 全量特征</a:t>
            </a:r>
          </a:p>
        </p:txBody>
      </p:sp>
      <p:sp>
        <p:nvSpPr>
          <p:cNvPr id="76" name="exec2">
            <a:extLst xmlns:a="http://schemas.openxmlformats.org/drawingml/2006/main">
              <a:ext uri="{FF2B5EF4-FFF2-40B4-BE49-F238E27FC236}">
                <a16:creationId xmlns:a16="http://schemas.microsoft.com/office/drawing/2014/main" id="{F1A3C130-3980-4EA8-B546-69BF06E2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867400"/>
            <a:ext cx="15811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8F3"/>
          </a:solidFill>
          <a:ln xmlns:a="http://schemas.openxmlformats.org/drawingml/2006/main" w="14288">
            <a:solidFill>
              <a:srgbClr val="12B88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② emotion-only train+dev</a:t>
            </a:r>
          </a:p>
          <a:p xmlns:a="http://schemas.openxmlformats.org/drawingml/2006/main">
            <a:pPr algn="ctr">
              <a:def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utility=0 · VAD=0 · dev WF1选best</a:t>
            </a:r>
          </a:p>
        </p:txBody>
      </p:sp>
      <p:sp>
        <p:nvSpPr>
          <p:cNvPr id="77" name="exec3">
            <a:extLst xmlns:a="http://schemas.openxmlformats.org/drawingml/2006/main">
              <a:ext uri="{FF2B5EF4-FFF2-40B4-BE49-F238E27FC236}">
                <a16:creationId xmlns:a16="http://schemas.microsoft.com/office/drawing/2014/main" id="{78BD6DF7-BAB3-4A09-A50E-04098F5D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867400"/>
            <a:ext cx="15811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9E6"/>
          </a:solidFill>
          <a:ln xmlns:a="http://schemas.openxmlformats.org/drawingml/2006/main" w="14288">
            <a:solidFill>
              <a:srgbClr val="F59F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③ STOP_BEFORE_TEST</a:t>
            </a:r>
          </a:p>
          <a:p xmlns:a="http://schemas.openxmlformats.org/drawingml/2006/main">
            <a:pPr algn="ctr">
              <a:def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8A4B08"/>
                </a:solidFill>
                <a:latin typeface="Microsoft YaHei"/>
                <a:ea typeface="Microsoft YaHei"/>
                <a:cs typeface="Microsoft YaHei"/>
              </a:rPr>
              <a:t>冻结代码 / 配置 / 特征 / 权重</a:t>
            </a:r>
          </a:p>
        </p:txBody>
      </p:sp>
      <p:sp>
        <p:nvSpPr>
          <p:cNvPr id="78" name="exec4">
            <a:extLst xmlns:a="http://schemas.openxmlformats.org/drawingml/2006/main">
              <a:ext uri="{FF2B5EF4-FFF2-40B4-BE49-F238E27FC236}">
                <a16:creationId xmlns:a16="http://schemas.microsoft.com/office/drawing/2014/main" id="{1823C074-5A5B-4A78-B275-FC9DE347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867400"/>
            <a:ext cx="15811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3EEFF"/>
          </a:solidFill>
          <a:ln xmlns:a="http://schemas.openxmlformats.org/drawingml/2006/main" w="14288">
            <a:solidFill>
              <a:srgbClr val="7C5CF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④ Phase B 完整 N3</a:t>
            </a:r>
          </a:p>
          <a:p xmlns:a="http://schemas.openxmlformats.org/drawingml/2006/main">
            <a:pPr algn="ctr">
              <a:defRPr sz="86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F3DC4"/>
                </a:solidFill>
                <a:latin typeface="Microsoft YaHei"/>
                <a:ea typeface="Microsoft YaHei"/>
                <a:cs typeface="Microsoft YaHei"/>
              </a:rPr>
              <a:t>基线 / 消融 / ≥5 seeds</a:t>
            </a:r>
          </a:p>
        </p:txBody>
      </p:sp>
      <p:sp>
        <p:nvSpPr>
          <p:cNvPr id="79" name="exec5">
            <a:extLst xmlns:a="http://schemas.openxmlformats.org/drawingml/2006/main">
              <a:ext uri="{FF2B5EF4-FFF2-40B4-BE49-F238E27FC236}">
                <a16:creationId xmlns:a16="http://schemas.microsoft.com/office/drawing/2014/main" id="{B2A2B9C9-7F6A-4707-AD44-C865DDB4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867400"/>
            <a:ext cx="34290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BF3"/>
          </a:solidFill>
          <a:ln xmlns:a="http://schemas.openxmlformats.org/drawingml/2006/main" w="14288">
            <a:solidFill>
              <a:srgbClr val="0CA6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⑤ 同一冻结框架分别训练与评估 · 不合并数据集</a:t>
            </a:r>
          </a:p>
          <a:p xmlns:a="http://schemas.openxmlformats.org/drawingml/2006/main">
            <a:pPr algn="ctr">
              <a:def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087F5B"/>
                </a:solidFill>
                <a:latin typeface="Microsoft YaHei"/>
                <a:ea typeface="Microsoft YaHei"/>
                <a:cs typeface="Microsoft YaHei"/>
              </a:rPr>
              <a:t>MELD · EmotionTalk · IEMOCAP</a:t>
            </a:r>
          </a:p>
        </p:txBody>
      </p:sp>
      <p:sp>
        <p:nvSpPr>
          <p:cNvPr id="80" name="execution_note">
            <a:extLst xmlns:a="http://schemas.openxmlformats.org/drawingml/2006/main">
              <a:ext uri="{FF2B5EF4-FFF2-40B4-BE49-F238E27FC236}">
                <a16:creationId xmlns:a16="http://schemas.microsoft.com/office/drawing/2014/main" id="{4E326F97-72B5-453F-9AB1-5E201720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8175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正式 test：独立授权、一次性、write-once；旧 MELD run 仅作诊断，不进入论文主结果</a:t>
            </a:r>
          </a:p>
        </p:txBody>
      </p:sp>
    </p:spTree>
    <p:extLst>
      <p:ext uri="{BB962C8B-B14F-4D97-AF65-F5344CB8AC3E}">
        <p14:creationId xmlns:p14="http://schemas.microsoft.com/office/powerpoint/2010/main" val="13770544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2026-08-13T14:04:13.4450000Z</dcterms:created>
  <dcterms:modified xsi:type="dcterms:W3CDTF">2026-08-13T14:04:13.4450000Z</dcterms:modified>
</coreProperties>
</file>