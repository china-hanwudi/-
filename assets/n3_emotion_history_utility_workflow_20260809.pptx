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solidFill>
              <a:srgbClr val="F8FAFC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itle"/>
          <p:cNvSpPr txBox="1"/>
          <p:nvPr/>
        </p:nvSpPr>
        <p:spPr>
          <a:xfrm>
            <a:off x="304800" y="177800"/>
            <a:ext cx="11582400" cy="4140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algn="l"/>
            <a:r>
              <a:rPr lang="en-US" altLang="en-US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N3 </a:t>
            </a:r>
            <a:r>
              <a:rPr lang="zh-CN" altLang="en-US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情感历史效用控制：六路建模</a:t>
            </a:r>
            <a:r>
              <a:rPr lang="en-US" altLang="zh-CN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双向边际效用</a:t>
            </a:r>
            <a:r>
              <a:rPr lang="en-US" altLang="zh-CN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真实分类增益</a:t>
            </a:r>
            <a:endParaRPr lang="zh-CN" altLang="en-US" sz="2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317500" y="596900"/>
            <a:ext cx="11557000" cy="2374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950">
                <a:solidFill>
                  <a:srgbClr val="475569"/>
                </a:solidFill>
                <a:latin typeface="Aptos" charset="0"/>
                <a:cs typeface="Aptos" charset="0"/>
              </a:rPr>
              <a:t>Emotion-specific six-stream modeling with modality-wise and joint bidirectional utility control</a:t>
            </a:r>
            <a:endParaRPr lang="en-US" altLang="en-US" sz="950">
              <a:solidFill>
                <a:srgbClr val="475569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panel_input"/>
          <p:cNvSpPr/>
          <p:nvPr/>
        </p:nvSpPr>
        <p:spPr>
          <a:xfrm>
            <a:off x="254000" y="990600"/>
            <a:ext cx="21590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panel_encoder"/>
          <p:cNvSpPr/>
          <p:nvPr/>
        </p:nvSpPr>
        <p:spPr>
          <a:xfrm>
            <a:off x="2603500" y="990600"/>
            <a:ext cx="21590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panel_relation"/>
          <p:cNvSpPr/>
          <p:nvPr/>
        </p:nvSpPr>
        <p:spPr>
          <a:xfrm>
            <a:off x="4953000" y="990600"/>
            <a:ext cx="20955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panel_utility"/>
          <p:cNvSpPr/>
          <p:nvPr/>
        </p:nvSpPr>
        <p:spPr>
          <a:xfrm>
            <a:off x="7239000" y="990600"/>
            <a:ext cx="27305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panel_output"/>
          <p:cNvSpPr/>
          <p:nvPr/>
        </p:nvSpPr>
        <p:spPr>
          <a:xfrm>
            <a:off x="10160000" y="990600"/>
            <a:ext cx="1778000" cy="444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arrow12"/>
          <p:cNvSpPr/>
          <p:nvPr/>
        </p:nvSpPr>
        <p:spPr>
          <a:xfrm>
            <a:off x="2425700" y="3022600"/>
            <a:ext cx="165100" cy="330200"/>
          </a:xfrm>
          <a:prstGeom prst="rightArrow">
            <a:avLst/>
          </a:prstGeom>
          <a:solidFill>
            <a:srgbClr val="94A3B8"/>
          </a:solidFill>
          <a:ln w="1270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arrow23"/>
          <p:cNvSpPr/>
          <p:nvPr/>
        </p:nvSpPr>
        <p:spPr>
          <a:xfrm>
            <a:off x="4775200" y="3022600"/>
            <a:ext cx="165100" cy="330200"/>
          </a:xfrm>
          <a:prstGeom prst="rightArrow">
            <a:avLst/>
          </a:prstGeom>
          <a:solidFill>
            <a:srgbClr val="94A3B8"/>
          </a:solidFill>
          <a:ln w="1270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arrow34"/>
          <p:cNvSpPr/>
          <p:nvPr/>
        </p:nvSpPr>
        <p:spPr>
          <a:xfrm>
            <a:off x="7061200" y="3022600"/>
            <a:ext cx="165100" cy="330200"/>
          </a:xfrm>
          <a:prstGeom prst="rightArrow">
            <a:avLst/>
          </a:prstGeom>
          <a:solidFill>
            <a:srgbClr val="94A3B8"/>
          </a:solidFill>
          <a:ln w="1270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arrow45"/>
          <p:cNvSpPr/>
          <p:nvPr/>
        </p:nvSpPr>
        <p:spPr>
          <a:xfrm>
            <a:off x="9982200" y="3022600"/>
            <a:ext cx="165100" cy="330200"/>
          </a:xfrm>
          <a:prstGeom prst="rightArrow">
            <a:avLst/>
          </a:prstGeom>
          <a:solidFill>
            <a:srgbClr val="94A3B8"/>
          </a:solidFill>
          <a:ln w="12700" cap="flat" cmpd="sng" algn="ctr">
            <a:solidFill>
              <a:srgbClr val="94A3B8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p1_title"/>
          <p:cNvSpPr txBox="1"/>
          <p:nvPr/>
        </p:nvSpPr>
        <p:spPr>
          <a:xfrm>
            <a:off x="406400" y="1143000"/>
            <a:ext cx="1841500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r>
              <a:rPr lang="en-US" altLang="en-US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</a:t>
            </a:r>
            <a:r>
              <a:rPr lang="zh-CN" altLang="en-US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六路输入</a:t>
            </a:r>
            <a:endParaRPr lang="zh-CN" altLang="en-US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urrent_header"/>
          <p:cNvSpPr txBox="1"/>
          <p:nvPr/>
        </p:nvSpPr>
        <p:spPr>
          <a:xfrm>
            <a:off x="431800" y="1524000"/>
            <a:ext cx="8128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850" b="1">
                <a:solidFill>
                  <a:srgbClr val="0F766E"/>
                </a:solidFill>
                <a:latin typeface="Aptos" charset="0"/>
                <a:cs typeface="Aptos" charset="0"/>
              </a:rPr>
              <a:t>当前</a:t>
            </a:r>
            <a:r>
              <a:rPr lang="en-US" altLang="zh-CN" sz="850" b="1">
                <a:solidFill>
                  <a:srgbClr val="0F766E"/>
                </a:solidFill>
                <a:latin typeface="Aptos" charset="0"/>
                <a:cs typeface="Aptos" charset="0"/>
              </a:rPr>
              <a:t> CURRENT</a:t>
            </a:r>
            <a:endParaRPr lang="en-US" altLang="zh-CN" sz="850" b="1">
              <a:solidFill>
                <a:srgbClr val="0F766E"/>
              </a:solidFill>
              <a:latin typeface="Aptos" charset="0"/>
              <a:cs typeface="Aptos" charset="0"/>
            </a:endParaRPr>
          </a:p>
        </p:txBody>
      </p:sp>
      <p:sp>
        <p:nvSpPr>
          <p:cNvPr id="16" name="history_header"/>
          <p:cNvSpPr txBox="1"/>
          <p:nvPr/>
        </p:nvSpPr>
        <p:spPr>
          <a:xfrm>
            <a:off x="1384300" y="1524000"/>
            <a:ext cx="8382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850" b="1">
                <a:solidFill>
                  <a:srgbClr val="4338CA"/>
                </a:solidFill>
                <a:latin typeface="Aptos" charset="0"/>
                <a:cs typeface="Aptos" charset="0"/>
              </a:rPr>
              <a:t>历史</a:t>
            </a:r>
            <a:r>
              <a:rPr lang="en-US" altLang="zh-CN" sz="850" b="1">
                <a:solidFill>
                  <a:srgbClr val="4338CA"/>
                </a:solidFill>
                <a:latin typeface="Aptos" charset="0"/>
                <a:cs typeface="Aptos" charset="0"/>
              </a:rPr>
              <a:t> HISTORY</a:t>
            </a:r>
            <a:endParaRPr lang="en-US" altLang="zh-CN" sz="850" b="1">
              <a:solidFill>
                <a:srgbClr val="4338CA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cur_text"/>
          <p:cNvSpPr/>
          <p:nvPr/>
        </p:nvSpPr>
        <p:spPr>
          <a:xfrm>
            <a:off x="431800" y="1854200"/>
            <a:ext cx="838200" cy="58420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p>
            <a:pPr algn="ctr"/>
            <a:r>
              <a:rPr lang="zh-CN" altLang="en-US" sz="1000" b="1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当前文本</a:t>
            </a:r>
            <a:r>
              <a:rPr lang="en-US" altLang="zh-CN" sz="1000" b="1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Tₜ</a:t>
            </a:r>
            <a:endParaRPr lang="en-US" altLang="zh-CN" sz="1000" b="1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his_text"/>
          <p:cNvSpPr/>
          <p:nvPr/>
        </p:nvSpPr>
        <p:spPr>
          <a:xfrm>
            <a:off x="1384300" y="1854200"/>
            <a:ext cx="838200" cy="584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p>
            <a:pPr algn="ctr"/>
            <a:r>
              <a:rPr lang="zh-CN" altLang="en-US" sz="1000" b="1">
                <a:solidFill>
                  <a:srgbClr val="373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历史文本</a:t>
            </a:r>
            <a:r>
              <a:rPr lang="en-US" altLang="zh-CN" sz="1000" b="1">
                <a:solidFill>
                  <a:srgbClr val="373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Tₕ</a:t>
            </a:r>
            <a:endParaRPr lang="en-US" altLang="zh-CN" sz="1000" b="1">
              <a:solidFill>
                <a:srgbClr val="373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ur_audio"/>
          <p:cNvSpPr/>
          <p:nvPr/>
        </p:nvSpPr>
        <p:spPr>
          <a:xfrm>
            <a:off x="431800" y="2641600"/>
            <a:ext cx="838200" cy="58420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p>
            <a:pPr algn="ctr"/>
            <a:r>
              <a:rPr lang="zh-CN" altLang="en-US" sz="1000" b="1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当前音频</a:t>
            </a:r>
            <a:r>
              <a:rPr lang="en-US" altLang="zh-CN" sz="1000" b="1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Aₜ</a:t>
            </a:r>
            <a:endParaRPr lang="en-US" altLang="zh-CN" sz="1000" b="1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his_audio"/>
          <p:cNvSpPr/>
          <p:nvPr/>
        </p:nvSpPr>
        <p:spPr>
          <a:xfrm>
            <a:off x="1384300" y="2641600"/>
            <a:ext cx="838200" cy="584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p>
            <a:pPr algn="ctr"/>
            <a:r>
              <a:rPr lang="zh-CN" altLang="en-US" sz="1000" b="1">
                <a:solidFill>
                  <a:srgbClr val="373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历史音频</a:t>
            </a:r>
            <a:r>
              <a:rPr lang="en-US" altLang="zh-CN" sz="1000" b="1">
                <a:solidFill>
                  <a:srgbClr val="373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Aₕ</a:t>
            </a:r>
            <a:endParaRPr lang="en-US" altLang="zh-CN" sz="1000" b="1">
              <a:solidFill>
                <a:srgbClr val="373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ur_video"/>
          <p:cNvSpPr/>
          <p:nvPr/>
        </p:nvSpPr>
        <p:spPr>
          <a:xfrm>
            <a:off x="431800" y="3429000"/>
            <a:ext cx="838200" cy="584200"/>
          </a:xfrm>
          <a:prstGeom prst="roundRect">
            <a:avLst/>
          </a:prstGeom>
          <a:solidFill>
            <a:srgbClr val="E6FFFB"/>
          </a:solidFill>
          <a:ln w="12700">
            <a:solidFill>
              <a:srgbClr val="14B8A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p>
            <a:pPr algn="ctr"/>
            <a:r>
              <a:rPr lang="zh-CN" altLang="en-US" sz="1000" b="1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当前视频</a:t>
            </a:r>
            <a:r>
              <a:rPr lang="en-US" altLang="zh-CN" sz="1000" b="1">
                <a:solidFill>
                  <a:srgbClr val="115E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Vₜ</a:t>
            </a:r>
            <a:endParaRPr lang="en-US" altLang="zh-CN" sz="1000" b="1">
              <a:solidFill>
                <a:srgbClr val="115E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his_video"/>
          <p:cNvSpPr/>
          <p:nvPr/>
        </p:nvSpPr>
        <p:spPr>
          <a:xfrm>
            <a:off x="1384300" y="3429000"/>
            <a:ext cx="838200" cy="584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p>
            <a:pPr algn="ctr"/>
            <a:r>
              <a:rPr lang="zh-CN" altLang="en-US" sz="1000" b="1">
                <a:solidFill>
                  <a:srgbClr val="373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历史视频</a:t>
            </a:r>
            <a:r>
              <a:rPr lang="en-US" altLang="zh-CN" sz="1000" b="1">
                <a:solidFill>
                  <a:srgbClr val="3730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Vₕ</a:t>
            </a:r>
            <a:endParaRPr lang="en-US" altLang="zh-CN" sz="1000" b="1">
              <a:solidFill>
                <a:srgbClr val="3730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datasets"/>
          <p:cNvSpPr/>
          <p:nvPr/>
        </p:nvSpPr>
        <p:spPr>
          <a:xfrm>
            <a:off x="419100" y="4381500"/>
            <a:ext cx="1828800" cy="73660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38100" rIns="50800" bIns="38100" rtlCol="0" anchor="ctr">
            <a:noAutofit/>
          </a:bodyPr>
          <a:p>
            <a:pPr algn="ctr"/>
            <a:r>
              <a:rPr lang="en-US" altLang="en-US" sz="8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MELD  ·  EmotionTalk
IEMOCAP</a:t>
            </a:r>
            <a:r>
              <a:rPr lang="zh-CN" altLang="en-US" sz="8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（外部确认）</a:t>
            </a:r>
            <a:r>
              <a:rPr lang="en-US" altLang="zh-CN" sz="8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8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严格过去</a:t>
            </a:r>
            <a:r>
              <a:rPr lang="en-US" altLang="zh-CN" sz="8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8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同说话人</a:t>
            </a:r>
            <a:r>
              <a:rPr lang="en-US" altLang="zh-CN" sz="8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84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无未来泄漏</a:t>
            </a:r>
            <a:endParaRPr lang="zh-CN" altLang="en-US" sz="84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p2_title"/>
          <p:cNvSpPr txBox="1"/>
          <p:nvPr/>
        </p:nvSpPr>
        <p:spPr>
          <a:xfrm>
            <a:off x="2755900" y="1143000"/>
            <a:ext cx="1841500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r>
              <a:rPr lang="en-US" altLang="en-US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</a:t>
            </a:r>
            <a:r>
              <a:rPr lang="zh-CN" altLang="en-US" sz="13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情感领域编码</a:t>
            </a:r>
            <a:endParaRPr lang="zh-CN" altLang="en-US" sz="13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nc_text"/>
          <p:cNvSpPr/>
          <p:nvPr/>
        </p:nvSpPr>
        <p:spPr>
          <a:xfrm>
            <a:off x="2794000" y="1752600"/>
            <a:ext cx="1778000" cy="7112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3B82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2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情感文本编码器</a:t>
            </a:r>
            <a:r>
              <a:rPr lang="en-US" altLang="zh-CN" sz="92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Emotion-RoBERTa / DeBERTa
</a:t>
            </a:r>
            <a:r>
              <a:rPr lang="zh-CN" altLang="en-US" sz="92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离散情绪</a:t>
            </a:r>
            <a:r>
              <a:rPr lang="en-US" altLang="zh-CN" sz="92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2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</a:t>
            </a:r>
            <a:r>
              <a:rPr lang="en-US" altLang="zh-CN" sz="92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2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转折</a:t>
            </a:r>
            <a:endParaRPr lang="zh-CN" altLang="en-US" sz="92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nc_audio"/>
          <p:cNvSpPr/>
          <p:nvPr/>
        </p:nvSpPr>
        <p:spPr>
          <a:xfrm>
            <a:off x="2794000" y="2692400"/>
            <a:ext cx="1778000" cy="7112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9731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20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情感语音编码器</a:t>
            </a:r>
            <a:r>
              <a:rPr lang="en-US" altLang="zh-CN" sz="920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emotion2vec / SER-WavLM
</a:t>
            </a:r>
            <a:r>
              <a:rPr lang="zh-CN" altLang="en-US" sz="920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音高</a:t>
            </a:r>
            <a:r>
              <a:rPr lang="en-US" altLang="zh-CN" sz="920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20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</a:t>
            </a:r>
            <a:r>
              <a:rPr lang="en-US" altLang="zh-CN" sz="920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20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唤醒度</a:t>
            </a:r>
            <a:endParaRPr lang="zh-CN" altLang="en-US" sz="920">
              <a:solidFill>
                <a:srgbClr val="9A34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nc_video"/>
          <p:cNvSpPr/>
          <p:nvPr/>
        </p:nvSpPr>
        <p:spPr>
          <a:xfrm>
            <a:off x="2794000" y="3632200"/>
            <a:ext cx="1778000" cy="7112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20">
                <a:solidFill>
                  <a:srgbClr val="9F1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面部情感编码器</a:t>
            </a:r>
            <a:r>
              <a:rPr lang="en-US" altLang="zh-CN" sz="920">
                <a:solidFill>
                  <a:srgbClr val="9F1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AffectNet / FER+ / AU
</a:t>
            </a:r>
            <a:r>
              <a:rPr lang="zh-CN" altLang="en-US" sz="920">
                <a:solidFill>
                  <a:srgbClr val="9F1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表情类别</a:t>
            </a:r>
            <a:r>
              <a:rPr lang="en-US" altLang="zh-CN" sz="920">
                <a:solidFill>
                  <a:srgbClr val="9F1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20">
                <a:solidFill>
                  <a:srgbClr val="9F1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动作单元</a:t>
            </a:r>
            <a:endParaRPr lang="zh-CN" altLang="en-US" sz="920">
              <a:solidFill>
                <a:srgbClr val="9F12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motion_theory"/>
          <p:cNvSpPr/>
          <p:nvPr/>
        </p:nvSpPr>
        <p:spPr>
          <a:xfrm>
            <a:off x="2794000" y="4572000"/>
            <a:ext cx="1778000" cy="6096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Autofit/>
          </a:bodyPr>
          <a:p>
            <a:pPr algn="ctr"/>
            <a:r>
              <a:rPr lang="zh-CN" altLang="en-US" sz="950" b="1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情感理论约束</a:t>
            </a:r>
            <a:r>
              <a:rPr lang="en-US" altLang="zh-CN" sz="950" b="1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VAD · </a:t>
            </a:r>
            <a:r>
              <a:rPr lang="zh-CN" altLang="en-US" sz="950" b="1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惯性</a:t>
            </a:r>
            <a:r>
              <a:rPr lang="en-US" altLang="zh-CN" sz="950" b="1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50" b="1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转折</a:t>
            </a:r>
            <a:r>
              <a:rPr lang="en-US" altLang="zh-CN" sz="950" b="1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50" b="1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</a:t>
            </a:r>
            <a:endParaRPr lang="zh-CN" altLang="en-US" sz="950" b="1">
              <a:solidFill>
                <a:srgbClr val="5B21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p3_header"/>
          <p:cNvSpPr txBox="1"/>
          <p:nvPr/>
        </p:nvSpPr>
        <p:spPr>
          <a:xfrm>
            <a:off x="5080000" y="1117600"/>
            <a:ext cx="1841500" cy="306705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l"/>
            <a:r>
              <a:rPr lang="en-US" alt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03  3</a:t>
            </a:r>
            <a:r>
              <a:rPr lang="zh-CN" alt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情感关系</a:t>
            </a:r>
            <a:endParaRPr lang="zh-CN" altLang="en-US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p3_hist_label"/>
          <p:cNvSpPr txBox="1"/>
          <p:nvPr/>
        </p:nvSpPr>
        <p:spPr>
          <a:xfrm>
            <a:off x="5664200" y="1473200"/>
            <a:ext cx="1168400" cy="213995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ctr"/>
            <a:r>
              <a:rPr lang="zh-CN" altLang="en-US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历史模态</a:t>
            </a:r>
            <a:r>
              <a:rPr lang="en-US" alt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</a:t>
            </a:r>
            <a:endParaRPr lang="en-US" alt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p3_cur_label"/>
          <p:cNvSpPr txBox="1"/>
          <p:nvPr/>
        </p:nvSpPr>
        <p:spPr>
          <a:xfrm>
            <a:off x="5016500" y="1473200"/>
            <a:ext cx="571500" cy="228600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12700" tIns="12700" rIns="12700" bIns="12700" rtlCol="0" anchor="ctr">
            <a:normAutofit/>
          </a:bodyPr>
          <a:p>
            <a:pPr algn="ctr"/>
            <a:r>
              <a:rPr lang="zh-CN" altLang="en-US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</a:t>
            </a:r>
            <a:r>
              <a:rPr lang="en-US" alt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↓</a:t>
            </a:r>
            <a:endParaRPr lang="en-US" alt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p3_col_0"/>
          <p:cNvSpPr txBox="1"/>
          <p:nvPr/>
        </p:nvSpPr>
        <p:spPr>
          <a:xfrm>
            <a:off x="5283200" y="1651000"/>
            <a:ext cx="482600" cy="229870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ctr"/>
            <a:r>
              <a:rPr lang="en-US" altLang="en-US" sz="9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Tₕ</a:t>
            </a:r>
            <a:endParaRPr lang="en-US" altLang="en-US" sz="9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3_col_1"/>
          <p:cNvSpPr txBox="1"/>
          <p:nvPr/>
        </p:nvSpPr>
        <p:spPr>
          <a:xfrm>
            <a:off x="5816600" y="1651000"/>
            <a:ext cx="482600" cy="229870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ctr"/>
            <a:r>
              <a:rPr lang="en-US" altLang="en-US" sz="9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Aₕ</a:t>
            </a:r>
            <a:endParaRPr lang="en-US" altLang="en-US" sz="9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p3_col_2"/>
          <p:cNvSpPr txBox="1"/>
          <p:nvPr/>
        </p:nvSpPr>
        <p:spPr>
          <a:xfrm>
            <a:off x="6350000" y="1651000"/>
            <a:ext cx="482600" cy="229870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ctr"/>
            <a:r>
              <a:rPr lang="en-US" altLang="en-US" sz="9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Vₕ</a:t>
            </a:r>
            <a:endParaRPr lang="en-US" altLang="en-US" sz="9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p3_row_0"/>
          <p:cNvSpPr txBox="1"/>
          <p:nvPr/>
        </p:nvSpPr>
        <p:spPr>
          <a:xfrm>
            <a:off x="5029200" y="1879600"/>
            <a:ext cx="228600" cy="368300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ctr"/>
            <a:r>
              <a:rPr lang="en-US" altLang="en-US" sz="9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Tₜ</a:t>
            </a:r>
            <a:endParaRPr lang="en-US" altLang="en-US" sz="9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p3_row_1"/>
          <p:cNvSpPr txBox="1"/>
          <p:nvPr/>
        </p:nvSpPr>
        <p:spPr>
          <a:xfrm>
            <a:off x="5029200" y="2413000"/>
            <a:ext cx="228600" cy="368300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ctr"/>
            <a:r>
              <a:rPr lang="en-US" altLang="en-US" sz="9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Aₜ</a:t>
            </a:r>
            <a:endParaRPr lang="en-US" altLang="en-US" sz="9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p3_row_2"/>
          <p:cNvSpPr txBox="1"/>
          <p:nvPr/>
        </p:nvSpPr>
        <p:spPr>
          <a:xfrm>
            <a:off x="5029200" y="2946400"/>
            <a:ext cx="228600" cy="368300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ctr"/>
            <a:r>
              <a:rPr lang="en-US" altLang="en-US" sz="9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Vₜ</a:t>
            </a:r>
            <a:endParaRPr lang="en-US" altLang="en-US" sz="9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7" name="p3_interaction_matrix"/>
          <p:cNvGrpSpPr/>
          <p:nvPr/>
        </p:nvGrpSpPr>
        <p:grpSpPr>
          <a:xfrm>
            <a:off x="5283200" y="1879600"/>
            <a:ext cx="1549400" cy="1473200"/>
            <a:chOff x="8320" y="2960"/>
            <a:chExt cx="2440" cy="2320"/>
          </a:xfrm>
        </p:grpSpPr>
        <p:sp>
          <p:nvSpPr>
            <p:cNvPr id="38" name="p3_cell_0"/>
            <p:cNvSpPr/>
            <p:nvPr/>
          </p:nvSpPr>
          <p:spPr>
            <a:xfrm>
              <a:off x="8320" y="2960"/>
              <a:ext cx="760" cy="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3B82F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12700" tIns="12700" rIns="12700" bIns="12700" rtlCol="0" anchor="ctr">
              <a:noAutofit/>
            </a:bodyPr>
            <a:p>
              <a:pPr algn="ctr"/>
              <a:r>
                <a:rPr lang="en-US" altLang="en-US" sz="1000" b="1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T–T</a:t>
              </a:r>
              <a:endParaRPr lang="en-US" altLang="en-US" sz="1000" b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p3_cell_1"/>
            <p:cNvSpPr/>
            <p:nvPr/>
          </p:nvSpPr>
          <p:spPr>
            <a:xfrm>
              <a:off x="9160" y="2960"/>
              <a:ext cx="760" cy="640"/>
            </a:xfrm>
            <a:prstGeom prst="roundRect">
              <a:avLst/>
            </a:prstGeom>
            <a:solidFill>
              <a:srgbClr val="FFF7ED"/>
            </a:solidFill>
            <a:ln w="12700">
              <a:solidFill>
                <a:srgbClr val="F9731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12700" tIns="12700" rIns="12700" bIns="12700" rtlCol="0" anchor="ctr">
              <a:noAutofit/>
            </a:bodyPr>
            <a:p>
              <a:pPr algn="ctr"/>
              <a:r>
                <a:rPr lang="en-US" altLang="en-US" sz="1000" b="1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T–A</a:t>
              </a:r>
              <a:endParaRPr lang="en-US" altLang="en-US" sz="1000" b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p3_cell_2"/>
            <p:cNvSpPr/>
            <p:nvPr/>
          </p:nvSpPr>
          <p:spPr>
            <a:xfrm>
              <a:off x="10000" y="2960"/>
              <a:ext cx="760" cy="640"/>
            </a:xfrm>
            <a:prstGeom prst="roundRect">
              <a:avLst/>
            </a:prstGeom>
            <a:solidFill>
              <a:srgbClr val="FFF1F2"/>
            </a:solidFill>
            <a:ln w="12700">
              <a:solidFill>
                <a:srgbClr val="E11D4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12700" tIns="12700" rIns="12700" bIns="12700" rtlCol="0" anchor="ctr">
              <a:noAutofit/>
            </a:bodyPr>
            <a:p>
              <a:pPr algn="ctr"/>
              <a:r>
                <a:rPr lang="en-US" altLang="en-US" sz="1000" b="1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T–V</a:t>
              </a:r>
              <a:endParaRPr lang="en-US" altLang="en-US" sz="1000" b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p3_cell_3"/>
            <p:cNvSpPr/>
            <p:nvPr/>
          </p:nvSpPr>
          <p:spPr>
            <a:xfrm>
              <a:off x="8320" y="3800"/>
              <a:ext cx="760" cy="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3B82F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12700" tIns="12700" rIns="12700" bIns="12700" rtlCol="0" anchor="ctr">
              <a:noAutofit/>
            </a:bodyPr>
            <a:p>
              <a:pPr algn="ctr"/>
              <a:r>
                <a:rPr lang="en-US" altLang="en-US" sz="1000" b="1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A–T</a:t>
              </a:r>
              <a:endParaRPr lang="en-US" altLang="en-US" sz="1000" b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p3_cell_4"/>
            <p:cNvSpPr/>
            <p:nvPr/>
          </p:nvSpPr>
          <p:spPr>
            <a:xfrm>
              <a:off x="9160" y="3800"/>
              <a:ext cx="760" cy="640"/>
            </a:xfrm>
            <a:prstGeom prst="roundRect">
              <a:avLst/>
            </a:prstGeom>
            <a:solidFill>
              <a:srgbClr val="FFF7ED"/>
            </a:solidFill>
            <a:ln w="12700">
              <a:solidFill>
                <a:srgbClr val="F9731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12700" tIns="12700" rIns="12700" bIns="12700" rtlCol="0" anchor="ctr">
              <a:noAutofit/>
            </a:bodyPr>
            <a:p>
              <a:pPr algn="ctr"/>
              <a:r>
                <a:rPr lang="en-US" altLang="en-US" sz="1000" b="1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A–A</a:t>
              </a:r>
              <a:endParaRPr lang="en-US" altLang="en-US" sz="1000" b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p3_cell_5"/>
            <p:cNvSpPr/>
            <p:nvPr/>
          </p:nvSpPr>
          <p:spPr>
            <a:xfrm>
              <a:off x="10000" y="3800"/>
              <a:ext cx="760" cy="640"/>
            </a:xfrm>
            <a:prstGeom prst="roundRect">
              <a:avLst/>
            </a:prstGeom>
            <a:solidFill>
              <a:srgbClr val="FFF1F2"/>
            </a:solidFill>
            <a:ln w="12700">
              <a:solidFill>
                <a:srgbClr val="E11D4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12700" tIns="12700" rIns="12700" bIns="12700" rtlCol="0" anchor="ctr">
              <a:noAutofit/>
            </a:bodyPr>
            <a:p>
              <a:pPr algn="ctr"/>
              <a:r>
                <a:rPr lang="en-US" altLang="en-US" sz="1000" b="1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A–V</a:t>
              </a:r>
              <a:endParaRPr lang="en-US" altLang="en-US" sz="1000" b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p3_cell_6"/>
            <p:cNvSpPr/>
            <p:nvPr/>
          </p:nvSpPr>
          <p:spPr>
            <a:xfrm>
              <a:off x="8320" y="4640"/>
              <a:ext cx="760" cy="640"/>
            </a:xfrm>
            <a:prstGeom prst="roundRect">
              <a:avLst/>
            </a:prstGeom>
            <a:solidFill>
              <a:srgbClr val="EFF6FF"/>
            </a:solidFill>
            <a:ln w="12700">
              <a:solidFill>
                <a:srgbClr val="3B82F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12700" tIns="12700" rIns="12700" bIns="12700" rtlCol="0" anchor="ctr">
              <a:noAutofit/>
            </a:bodyPr>
            <a:p>
              <a:pPr algn="ctr"/>
              <a:r>
                <a:rPr lang="en-US" altLang="en-US" sz="1000" b="1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V–T</a:t>
              </a:r>
              <a:endParaRPr lang="en-US" altLang="en-US" sz="1000" b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p3_cell_7"/>
            <p:cNvSpPr/>
            <p:nvPr/>
          </p:nvSpPr>
          <p:spPr>
            <a:xfrm>
              <a:off x="9160" y="4640"/>
              <a:ext cx="760" cy="640"/>
            </a:xfrm>
            <a:prstGeom prst="roundRect">
              <a:avLst/>
            </a:prstGeom>
            <a:solidFill>
              <a:srgbClr val="FFF7ED"/>
            </a:solidFill>
            <a:ln w="12700">
              <a:solidFill>
                <a:srgbClr val="F9731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12700" tIns="12700" rIns="12700" bIns="12700" rtlCol="0" anchor="ctr">
              <a:noAutofit/>
            </a:bodyPr>
            <a:p>
              <a:pPr algn="ctr"/>
              <a:r>
                <a:rPr lang="en-US" altLang="en-US" sz="1000" b="1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V–A</a:t>
              </a:r>
              <a:endParaRPr lang="en-US" altLang="en-US" sz="1000" b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p3_cell_8"/>
            <p:cNvSpPr/>
            <p:nvPr/>
          </p:nvSpPr>
          <p:spPr>
            <a:xfrm>
              <a:off x="10000" y="4640"/>
              <a:ext cx="760" cy="640"/>
            </a:xfrm>
            <a:prstGeom prst="roundRect">
              <a:avLst/>
            </a:prstGeom>
            <a:solidFill>
              <a:srgbClr val="FFF1F2"/>
            </a:solidFill>
            <a:ln w="12700">
              <a:solidFill>
                <a:srgbClr val="E11D4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12700" tIns="12700" rIns="12700" bIns="12700" rtlCol="0" anchor="ctr">
              <a:noAutofit/>
            </a:bodyPr>
            <a:p>
              <a:pPr algn="ctr"/>
              <a:r>
                <a:rPr lang="en-US" altLang="en-US" sz="1000" b="1">
                  <a:solidFill>
                    <a:srgbClr val="0F172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V–V</a:t>
              </a:r>
              <a:endParaRPr lang="en-US" altLang="en-US" sz="1000" b="1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7" name="p3_rel_summary"/>
          <p:cNvSpPr/>
          <p:nvPr/>
        </p:nvSpPr>
        <p:spPr>
          <a:xfrm>
            <a:off x="5130800" y="3632200"/>
            <a:ext cx="1739900" cy="130810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8B5C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rmAutofit/>
          </a:bodyPr>
          <a:p>
            <a:pPr algn="ctr"/>
            <a:r>
              <a:rPr lang="zh-CN" altLang="en-US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情感关系证据</a:t>
            </a:r>
            <a:r>
              <a:rPr lang="en-US" altLang="zh-CN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ΔVAD · </a:t>
            </a:r>
            <a:r>
              <a:rPr lang="zh-CN" altLang="en-US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情感转折</a:t>
            </a:r>
            <a:r>
              <a:rPr lang="en-US" altLang="zh-CN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模态一致</a:t>
            </a:r>
            <a:r>
              <a:rPr lang="en-US" altLang="zh-CN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冲突</a:t>
            </a:r>
            <a:r>
              <a:rPr lang="en-US" altLang="zh-CN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时间距离</a:t>
            </a:r>
            <a:r>
              <a:rPr lang="en-US" altLang="zh-CN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说话人</a:t>
            </a:r>
            <a:r>
              <a:rPr lang="en-US" altLang="zh-CN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50">
                <a:solidFill>
                  <a:srgbClr val="4C1D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模态质量</a:t>
            </a:r>
            <a:endParaRPr lang="zh-CN" altLang="en-US" sz="950">
              <a:solidFill>
                <a:srgbClr val="4C1D9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p3_note"/>
          <p:cNvSpPr txBox="1"/>
          <p:nvPr/>
        </p:nvSpPr>
        <p:spPr>
          <a:xfrm>
            <a:off x="5130800" y="5029200"/>
            <a:ext cx="1739900" cy="213995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ctr"/>
            <a:r>
              <a:rPr lang="zh-CN" altLang="en-US" sz="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每个当前模态</a:t>
            </a:r>
            <a:r>
              <a:rPr lang="en-US" altLang="zh-CN" sz="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每个历史模态</a:t>
            </a:r>
            <a:endParaRPr lang="zh-CN" altLang="en-US" sz="8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p4_header"/>
          <p:cNvSpPr txBox="1"/>
          <p:nvPr/>
        </p:nvSpPr>
        <p:spPr>
          <a:xfrm>
            <a:off x="7366000" y="1117600"/>
            <a:ext cx="2476500" cy="306705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l"/>
            <a:r>
              <a:rPr lang="en-US" alt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</a:t>
            </a:r>
            <a:r>
              <a:rPr lang="zh-CN" altLang="en-US" sz="1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双向边际效用控制</a:t>
            </a:r>
            <a:endParaRPr lang="zh-CN" altLang="en-US" sz="1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p4_legend"/>
          <p:cNvSpPr txBox="1"/>
          <p:nvPr/>
        </p:nvSpPr>
        <p:spPr>
          <a:xfrm>
            <a:off x="7366000" y="1422400"/>
            <a:ext cx="2476500" cy="317500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ctr"/>
            <a:r>
              <a:rPr lang="en-US" altLang="en-US" sz="76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 sz="76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加入收益</a:t>
            </a:r>
            <a:r>
              <a:rPr lang="en-US" altLang="zh-CN" sz="76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← </a:t>
            </a:r>
            <a:r>
              <a:rPr lang="zh-CN" altLang="en-US" sz="76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移除损失</a:t>
            </a:r>
            <a:r>
              <a:rPr lang="en-US" altLang="zh-CN" sz="76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76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（其余模态与背景固定）</a:t>
            </a:r>
            <a:endParaRPr lang="zh-CN" altLang="en-US" sz="76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util_T"/>
          <p:cNvSpPr/>
          <p:nvPr/>
        </p:nvSpPr>
        <p:spPr>
          <a:xfrm>
            <a:off x="7366000" y="1778000"/>
            <a:ext cx="736600" cy="7366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3B82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rmAutofit/>
          </a:bodyPr>
          <a:p>
            <a:pPr algn="ctr"/>
            <a:r>
              <a:rPr lang="zh-CN" altLang="en-US" sz="79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文本历史效用</a:t>
            </a:r>
            <a:r>
              <a:rPr lang="en-US" altLang="zh-CN" sz="79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M→ </a:t>
            </a:r>
            <a:r>
              <a:rPr lang="zh-CN" altLang="en-US" sz="79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</a:t>
            </a:r>
            <a:r>
              <a:rPr lang="en-US" altLang="zh-CN" sz="79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M← </a:t>
            </a:r>
            <a:r>
              <a:rPr lang="zh-CN" altLang="en-US" sz="790" b="1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移除</a:t>
            </a:r>
            <a:endParaRPr lang="zh-CN" altLang="en-US" sz="790" b="1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util_A"/>
          <p:cNvSpPr/>
          <p:nvPr/>
        </p:nvSpPr>
        <p:spPr>
          <a:xfrm>
            <a:off x="8229600" y="1778000"/>
            <a:ext cx="736600" cy="7366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9731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rmAutofit/>
          </a:bodyPr>
          <a:p>
            <a:pPr algn="ctr"/>
            <a:r>
              <a:rPr lang="zh-CN" altLang="en-US" sz="790" b="1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音频历史效用</a:t>
            </a:r>
            <a:r>
              <a:rPr lang="en-US" altLang="zh-CN" sz="790" b="1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M→ </a:t>
            </a:r>
            <a:r>
              <a:rPr lang="zh-CN" altLang="en-US" sz="790" b="1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</a:t>
            </a:r>
            <a:r>
              <a:rPr lang="en-US" altLang="zh-CN" sz="790" b="1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M← </a:t>
            </a:r>
            <a:r>
              <a:rPr lang="zh-CN" altLang="en-US" sz="790" b="1">
                <a:solidFill>
                  <a:srgbClr val="9A34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移除</a:t>
            </a:r>
            <a:endParaRPr lang="zh-CN" altLang="en-US" sz="790" b="1">
              <a:solidFill>
                <a:srgbClr val="9A34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util_V"/>
          <p:cNvSpPr/>
          <p:nvPr/>
        </p:nvSpPr>
        <p:spPr>
          <a:xfrm>
            <a:off x="9093200" y="1778000"/>
            <a:ext cx="736600" cy="7366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rmAutofit/>
          </a:bodyPr>
          <a:p>
            <a:pPr algn="ctr"/>
            <a:r>
              <a:rPr lang="zh-CN" altLang="en-US" sz="790" b="1">
                <a:solidFill>
                  <a:srgbClr val="9F1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视频历史效用</a:t>
            </a:r>
            <a:r>
              <a:rPr lang="en-US" altLang="zh-CN" sz="790" b="1">
                <a:solidFill>
                  <a:srgbClr val="9F1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M→ </a:t>
            </a:r>
            <a:r>
              <a:rPr lang="zh-CN" altLang="en-US" sz="790" b="1">
                <a:solidFill>
                  <a:srgbClr val="9F1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</a:t>
            </a:r>
            <a:r>
              <a:rPr lang="en-US" altLang="zh-CN" sz="790" b="1">
                <a:solidFill>
                  <a:srgbClr val="9F1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M← </a:t>
            </a:r>
            <a:r>
              <a:rPr lang="zh-CN" altLang="en-US" sz="790" b="1">
                <a:solidFill>
                  <a:srgbClr val="9F12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移除</a:t>
            </a:r>
            <a:endParaRPr lang="zh-CN" altLang="en-US" sz="790" b="1">
              <a:solidFill>
                <a:srgbClr val="9F12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util_joint"/>
          <p:cNvSpPr/>
          <p:nvPr/>
        </p:nvSpPr>
        <p:spPr>
          <a:xfrm>
            <a:off x="7620000" y="2819400"/>
            <a:ext cx="1968500" cy="6096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rmAutofit/>
          </a:bodyPr>
          <a:p>
            <a:pPr algn="ctr"/>
            <a:r>
              <a:rPr lang="zh-CN" altLang="en-US" sz="85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联合历史效用</a:t>
            </a:r>
            <a:r>
              <a:rPr lang="en-US" altLang="zh-CN" sz="85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M(all)→ </a:t>
            </a:r>
            <a:r>
              <a:rPr lang="zh-CN" altLang="en-US" sz="85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</a:t>
            </a:r>
            <a:r>
              <a:rPr lang="en-US" altLang="zh-CN" sz="85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M(all)← </a:t>
            </a:r>
            <a:r>
              <a:rPr lang="zh-CN" altLang="en-US" sz="850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移除</a:t>
            </a:r>
            <a:endParaRPr lang="zh-CN" altLang="en-US" sz="850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util_cross"/>
          <p:cNvSpPr/>
          <p:nvPr/>
        </p:nvSpPr>
        <p:spPr>
          <a:xfrm>
            <a:off x="7518400" y="3543300"/>
            <a:ext cx="2171700" cy="40640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8B5CF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rmAutofit/>
          </a:bodyPr>
          <a:p>
            <a:pPr algn="ctr"/>
            <a:r>
              <a:rPr lang="zh-CN" altLang="en-US" sz="850" b="1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跨模态残差</a:t>
            </a:r>
            <a:r>
              <a:rPr lang="en-US" altLang="zh-CN" sz="850" b="1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Ucross = Ujoint − Σₘ Uₘ</a:t>
            </a:r>
            <a:endParaRPr lang="en-US" altLang="zh-CN" sz="850" b="1">
              <a:solidFill>
                <a:srgbClr val="5B21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wo_level_gate"/>
          <p:cNvSpPr/>
          <p:nvPr/>
        </p:nvSpPr>
        <p:spPr>
          <a:xfrm>
            <a:off x="7543800" y="4076700"/>
            <a:ext cx="2120900" cy="5969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rmAutofit/>
          </a:bodyPr>
          <a:p>
            <a:pPr algn="ctr"/>
            <a:r>
              <a:rPr lang="zh-CN" altLang="en-US" sz="92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两级风险门控</a:t>
            </a:r>
            <a:r>
              <a:rPr lang="en-US" altLang="zh-CN" sz="92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2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模态级门控</a:t>
            </a:r>
            <a:r>
              <a:rPr lang="en-US" altLang="zh-CN" sz="92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→  </a:t>
            </a:r>
            <a:r>
              <a:rPr lang="zh-CN" altLang="en-US" sz="92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历史级门控</a:t>
            </a:r>
            <a:endParaRPr lang="zh-CN" altLang="en-US" sz="920" b="1">
              <a:solidFill>
                <a:srgbClr val="065F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fallback_current"/>
          <p:cNvSpPr/>
          <p:nvPr/>
        </p:nvSpPr>
        <p:spPr>
          <a:xfrm>
            <a:off x="7518400" y="4851400"/>
            <a:ext cx="2171700" cy="3556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38100" tIns="25400" rIns="38100" bIns="25400" rtlCol="0" anchor="ctr">
            <a:normAutofit lnSpcReduction="20000"/>
          </a:bodyPr>
          <a:p>
            <a:pPr algn="ctr"/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</a:t>
            </a:r>
            <a:r>
              <a:rPr lang="en-US" altLang="zh-CN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有害</a:t>
            </a:r>
            <a:r>
              <a:rPr lang="en-US" altLang="zh-CN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⇒  independent current-only</a:t>
            </a:r>
            <a:endParaRPr lang="en-US" altLang="zh-CN" sz="82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p5_header"/>
          <p:cNvSpPr txBox="1"/>
          <p:nvPr/>
        </p:nvSpPr>
        <p:spPr>
          <a:xfrm>
            <a:off x="10287000" y="1117600"/>
            <a:ext cx="1524000" cy="299085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l"/>
            <a:r>
              <a:rPr lang="en-US" altLang="en-US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</a:t>
            </a:r>
            <a:r>
              <a:rPr lang="zh-CN" altLang="en-US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分类与证据</a:t>
            </a:r>
            <a:endParaRPr lang="zh-CN" altLang="en-US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selected_fusion"/>
          <p:cNvSpPr/>
          <p:nvPr/>
        </p:nvSpPr>
        <p:spPr>
          <a:xfrm>
            <a:off x="10312400" y="1625600"/>
            <a:ext cx="1473200" cy="6096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p>
            <a:pPr algn="ctr"/>
            <a:r>
              <a:rPr lang="zh-CN" altLang="en-US" sz="100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筛选后</a:t>
            </a:r>
            <a:r>
              <a:rPr lang="en-US" altLang="zh-CN" sz="100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00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多模态情感融合</a:t>
            </a:r>
            <a:endParaRPr lang="zh-CN" altLang="en-US" sz="1000" b="1">
              <a:solidFill>
                <a:srgbClr val="065F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motion_classifier"/>
          <p:cNvSpPr/>
          <p:nvPr/>
        </p:nvSpPr>
        <p:spPr>
          <a:xfrm>
            <a:off x="10312400" y="2514600"/>
            <a:ext cx="1473200" cy="508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p>
            <a:pPr algn="ctr"/>
            <a:r>
              <a:rPr lang="en-US" altLang="en-US" sz="100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</a:rPr>
              <a:t>Emotion classifier</a:t>
            </a:r>
            <a:endParaRPr lang="en-US" altLang="en-US" sz="1000" b="1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emotion_output"/>
          <p:cNvSpPr/>
          <p:nvPr/>
        </p:nvSpPr>
        <p:spPr>
          <a:xfrm>
            <a:off x="10312400" y="3302000"/>
            <a:ext cx="1473200" cy="558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22C55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p>
            <a:pPr algn="ctr"/>
            <a:r>
              <a:rPr lang="zh-CN" altLang="en-US" sz="95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情绪概率</a:t>
            </a:r>
            <a:r>
              <a:rPr lang="en-US" altLang="zh-CN" sz="95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5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</a:t>
            </a:r>
            <a:r>
              <a:rPr lang="en-US" altLang="zh-CN" sz="95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50" b="1">
                <a:solidFill>
                  <a:srgbClr val="1665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置信度</a:t>
            </a:r>
            <a:endParaRPr lang="zh-CN" altLang="en-US" sz="950" b="1">
              <a:solidFill>
                <a:srgbClr val="16653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primary_metrics"/>
          <p:cNvSpPr/>
          <p:nvPr/>
        </p:nvSpPr>
        <p:spPr>
          <a:xfrm>
            <a:off x="10261600" y="4140200"/>
            <a:ext cx="1574800" cy="8636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p>
            <a:pPr algn="ctr"/>
            <a:r>
              <a:rPr lang="zh-CN" altLang="en-US" sz="88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主成功标准</a:t>
            </a:r>
            <a:r>
              <a:rPr lang="en-US" altLang="zh-CN" sz="880" b="1">
                <a:solidFill>
                  <a:srgbClr val="1453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Weighted-F1 ↑
Macro-F1 ↑ · Accuracy ↑</a:t>
            </a:r>
            <a:endParaRPr lang="en-US" altLang="zh-CN" sz="880" b="1">
              <a:solidFill>
                <a:srgbClr val="1453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metric_note"/>
          <p:cNvSpPr txBox="1"/>
          <p:nvPr/>
        </p:nvSpPr>
        <p:spPr>
          <a:xfrm>
            <a:off x="10261600" y="5029200"/>
            <a:ext cx="1574800" cy="330835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 lnSpcReduction="10000"/>
          </a:bodyPr>
          <a:p>
            <a:pPr algn="ctr"/>
            <a:r>
              <a:rPr lang="zh-CN" altLang="en-US" sz="78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</a:t>
            </a:r>
            <a:r>
              <a:rPr lang="en-US" altLang="zh-CN" sz="78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current-only </a:t>
            </a:r>
            <a:r>
              <a:rPr lang="zh-CN" altLang="en-US" sz="78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78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78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最强历史基线</a:t>
            </a:r>
            <a:endParaRPr lang="zh-CN" altLang="en-US" sz="78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confirm_panel"/>
          <p:cNvSpPr/>
          <p:nvPr/>
        </p:nvSpPr>
        <p:spPr>
          <a:xfrm>
            <a:off x="254000" y="5613400"/>
            <a:ext cx="11684000" cy="1041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confirm_title"/>
          <p:cNvSpPr txBox="1"/>
          <p:nvPr/>
        </p:nvSpPr>
        <p:spPr>
          <a:xfrm>
            <a:off x="406400" y="5676900"/>
            <a:ext cx="2794000" cy="260350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l"/>
            <a:r>
              <a:rPr lang="zh-CN" altLang="en-US" sz="1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确认性证据路径（标签隔离）</a:t>
            </a:r>
            <a:endParaRPr lang="zh-CN" altLang="en-US" sz="11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confirm_1"/>
          <p:cNvSpPr/>
          <p:nvPr/>
        </p:nvSpPr>
        <p:spPr>
          <a:xfrm>
            <a:off x="444500" y="5994400"/>
            <a:ext cx="1905000" cy="4445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p>
            <a:pPr algn="ctr"/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Fit </a:t>
            </a:r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</a:t>
            </a:r>
            <a:r>
              <a:rPr lang="en-US" altLang="zh-CN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speaker-group cross-fitting</a:t>
            </a:r>
            <a:endParaRPr lang="en-US" altLang="zh-CN" sz="82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confirm_2"/>
          <p:cNvSpPr/>
          <p:nvPr/>
        </p:nvSpPr>
        <p:spPr>
          <a:xfrm>
            <a:off x="2717800" y="5994400"/>
            <a:ext cx="1905000" cy="4445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p>
            <a:pPr algn="ctr"/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</a:t>
            </a:r>
            <a:r>
              <a:rPr lang="en-US" altLang="zh-CN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N3 / </a:t>
            </a:r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r>
              <a:rPr lang="en-US" altLang="zh-CN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/ </a:t>
            </a:r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效应阈值</a:t>
            </a:r>
            <a:endParaRPr lang="zh-CN" altLang="en-US" sz="82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confirm_3"/>
          <p:cNvSpPr/>
          <p:nvPr/>
        </p:nvSpPr>
        <p:spPr>
          <a:xfrm>
            <a:off x="4991100" y="5994400"/>
            <a:ext cx="1905000" cy="4445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p>
            <a:pPr algn="ctr"/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Outcome-free
prediction artifacts</a:t>
            </a:r>
            <a:endParaRPr lang="en-US" altLang="zh-CN" sz="82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confirm_4"/>
          <p:cNvSpPr/>
          <p:nvPr/>
        </p:nvSpPr>
        <p:spPr>
          <a:xfrm>
            <a:off x="7264400" y="5994400"/>
            <a:ext cx="1905000" cy="4445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94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p>
            <a:pPr algn="ctr"/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一次性</a:t>
            </a:r>
            <a:r>
              <a:rPr lang="en-US" altLang="zh-CN" sz="8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label-only evaluator</a:t>
            </a:r>
            <a:endParaRPr lang="en-US" altLang="zh-CN" sz="82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confirm_5"/>
          <p:cNvSpPr/>
          <p:nvPr/>
        </p:nvSpPr>
        <p:spPr>
          <a:xfrm>
            <a:off x="9537700" y="5994400"/>
            <a:ext cx="1905000" cy="4445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p>
            <a:pPr algn="ctr"/>
            <a:r>
              <a:rPr lang="zh-CN" altLang="en-US" sz="82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 sz="82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MELD + EmotionTalk
+ IEMOCAP</a:t>
            </a:r>
            <a:endParaRPr lang="en-US" altLang="zh-CN" sz="820" b="1">
              <a:solidFill>
                <a:srgbClr val="065F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confirm_arrow_1"/>
          <p:cNvSpPr/>
          <p:nvPr/>
        </p:nvSpPr>
        <p:spPr>
          <a:xfrm>
            <a:off x="2413000" y="6108700"/>
            <a:ext cx="203200" cy="190500"/>
          </a:xfrm>
          <a:prstGeom prst="rightArrow">
            <a:avLst/>
          </a:prstGeom>
          <a:solidFill>
            <a:srgbClr val="94A3B8"/>
          </a:solidFill>
          <a:ln>
            <a:solidFill>
              <a:schemeClr val="accent1">
                <a:lumMod val="75000"/>
                <a:alpha val="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confirm_arrow_2"/>
          <p:cNvSpPr/>
          <p:nvPr/>
        </p:nvSpPr>
        <p:spPr>
          <a:xfrm>
            <a:off x="4686300" y="6108700"/>
            <a:ext cx="203200" cy="190500"/>
          </a:xfrm>
          <a:prstGeom prst="rightArrow">
            <a:avLst/>
          </a:prstGeom>
          <a:solidFill>
            <a:srgbClr val="94A3B8"/>
          </a:solidFill>
          <a:ln>
            <a:solidFill>
              <a:schemeClr val="accent1">
                <a:lumMod val="75000"/>
                <a:alpha val="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confirm_arrow_3"/>
          <p:cNvSpPr/>
          <p:nvPr/>
        </p:nvSpPr>
        <p:spPr>
          <a:xfrm>
            <a:off x="6959600" y="6108700"/>
            <a:ext cx="203200" cy="190500"/>
          </a:xfrm>
          <a:prstGeom prst="rightArrow">
            <a:avLst/>
          </a:prstGeom>
          <a:solidFill>
            <a:srgbClr val="94A3B8"/>
          </a:solidFill>
          <a:ln>
            <a:solidFill>
              <a:schemeClr val="accent1">
                <a:lumMod val="75000"/>
                <a:alpha val="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confirm_arrow_4"/>
          <p:cNvSpPr/>
          <p:nvPr/>
        </p:nvSpPr>
        <p:spPr>
          <a:xfrm>
            <a:off x="9232900" y="6108700"/>
            <a:ext cx="203200" cy="190500"/>
          </a:xfrm>
          <a:prstGeom prst="rightArrow">
            <a:avLst/>
          </a:prstGeom>
          <a:solidFill>
            <a:srgbClr val="94A3B8"/>
          </a:solidFill>
          <a:ln>
            <a:solidFill>
              <a:schemeClr val="accent1">
                <a:lumMod val="75000"/>
                <a:alpha val="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confirm_note"/>
          <p:cNvSpPr txBox="1"/>
          <p:nvPr/>
        </p:nvSpPr>
        <p:spPr>
          <a:xfrm>
            <a:off x="444500" y="6477000"/>
            <a:ext cx="10998200" cy="206375"/>
          </a:xfrm>
          <a:prstGeom prst="rect">
            <a:avLst/>
          </a:prstGeom>
          <a:noFill/>
          <a:ln>
            <a:solidFill>
              <a:prstClr val="black">
                <a:alpha val="0"/>
              </a:prstClr>
            </a:solidFill>
          </a:ln>
        </p:spPr>
        <p:txBody>
          <a:bodyPr wrap="square" lIns="25400" tIns="12700" rIns="25400" bIns="12700" rtlCol="0" anchor="ctr">
            <a:normAutofit/>
          </a:bodyPr>
          <a:p>
            <a:pPr algn="ctr"/>
            <a:r>
              <a:rPr lang="zh-CN" altLang="en-US"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</a:t>
            </a:r>
            <a:r>
              <a:rPr lang="en-US" altLang="zh-CN"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test </a:t>
            </a:r>
            <a:r>
              <a:rPr lang="zh-CN" altLang="en-US"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在完整冻结前保持封存；无论正负均报告</a:t>
            </a:r>
            <a:r>
              <a:rPr lang="en-US" altLang="zh-CN"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·    </a:t>
            </a:r>
            <a:r>
              <a:rPr lang="zh-CN" altLang="en-US"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次要证据：</a:t>
            </a:r>
            <a:r>
              <a:rPr lang="en-US" altLang="zh-CN" sz="7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NLL · Brier · ECE · harm rate · CVaR</a:t>
            </a:r>
            <a:endParaRPr lang="en-US" altLang="zh-CN" sz="7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8" name="c_uT_joint"/>
          <p:cNvCxnSpPr>
            <a:stCxn id="51" idx="0"/>
            <a:endCxn id="54" idx="0"/>
          </p:cNvCxnSpPr>
          <p:nvPr>
            <p:custDataLst>
              <p:tags r:id="rId1"/>
            </p:custDataLst>
          </p:nvPr>
        </p:nvCxnSpPr>
        <p:spPr>
          <a:xfrm rot="16200000" flipH="1">
            <a:off x="7648575" y="1863725"/>
            <a:ext cx="1041400" cy="869950"/>
          </a:xfrm>
          <a:prstGeom prst="bentConnector5">
            <a:avLst>
              <a:gd name="adj1" fmla="val -22866"/>
              <a:gd name="adj2" fmla="val 50000"/>
              <a:gd name="adj3" fmla="val 85366"/>
            </a:avLst>
          </a:prstGeom>
          <a:ln w="13970">
            <a:solidFill>
              <a:srgbClr val="F59E0B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_uA_joint"/>
          <p:cNvCxnSpPr>
            <a:stCxn id="52" idx="0"/>
            <a:endCxn id="54" idx="0"/>
          </p:cNvCxnSpPr>
          <p:nvPr>
            <p:custDataLst>
              <p:tags r:id="rId2"/>
            </p:custDataLst>
          </p:nvPr>
        </p:nvCxnSpPr>
        <p:spPr>
          <a:xfrm>
            <a:off x="8597900" y="1778000"/>
            <a:ext cx="6350" cy="1041400"/>
          </a:xfrm>
          <a:prstGeom prst="straightConnector1">
            <a:avLst/>
          </a:prstGeom>
          <a:ln w="13970">
            <a:solidFill>
              <a:srgbClr val="F59E0B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_uV_joint"/>
          <p:cNvCxnSpPr>
            <a:stCxn id="53" idx="0"/>
            <a:endCxn id="54" idx="0"/>
          </p:cNvCxnSpPr>
          <p:nvPr>
            <p:custDataLst>
              <p:tags r:id="rId3"/>
            </p:custDataLst>
          </p:nvPr>
        </p:nvCxnSpPr>
        <p:spPr>
          <a:xfrm rot="16200000" flipH="1" flipV="1">
            <a:off x="8512175" y="1870075"/>
            <a:ext cx="1041400" cy="857250"/>
          </a:xfrm>
          <a:prstGeom prst="bentConnector5">
            <a:avLst>
              <a:gd name="adj1" fmla="val -22866"/>
              <a:gd name="adj2" fmla="val 50000"/>
              <a:gd name="adj3" fmla="val 85366"/>
            </a:avLst>
          </a:prstGeom>
          <a:ln w="13970">
            <a:solidFill>
              <a:srgbClr val="F59E0B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_joint_cross"/>
          <p:cNvCxnSpPr>
            <a:stCxn id="54" idx="0"/>
            <a:endCxn id="55" idx="0"/>
          </p:cNvCxnSpPr>
          <p:nvPr>
            <p:custDataLst>
              <p:tags r:id="rId4"/>
            </p:custDataLst>
          </p:nvPr>
        </p:nvCxnSpPr>
        <p:spPr>
          <a:xfrm>
            <a:off x="8604250" y="2819400"/>
            <a:ext cx="0" cy="723900"/>
          </a:xfrm>
          <a:prstGeom prst="straightConnector1">
            <a:avLst/>
          </a:prstGeom>
          <a:ln w="13970">
            <a:solidFill>
              <a:srgbClr val="8B5CF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_cross_gate"/>
          <p:cNvCxnSpPr>
            <a:stCxn id="55" idx="0"/>
            <a:endCxn id="56" idx="0"/>
          </p:cNvCxnSpPr>
          <p:nvPr>
            <p:custDataLst>
              <p:tags r:id="rId5"/>
            </p:custDataLst>
          </p:nvPr>
        </p:nvCxnSpPr>
        <p:spPr>
          <a:xfrm>
            <a:off x="8604250" y="3543300"/>
            <a:ext cx="0" cy="533400"/>
          </a:xfrm>
          <a:prstGeom prst="straightConnector1">
            <a:avLst/>
          </a:prstGeom>
          <a:ln w="15240">
            <a:solidFill>
              <a:srgbClr val="10B98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_gate_fallback"/>
          <p:cNvCxnSpPr>
            <a:stCxn id="56" idx="0"/>
            <a:endCxn id="57" idx="0"/>
          </p:cNvCxnSpPr>
          <p:nvPr>
            <p:custDataLst>
              <p:tags r:id="rId6"/>
            </p:custDataLst>
          </p:nvPr>
        </p:nvCxnSpPr>
        <p:spPr>
          <a:xfrm>
            <a:off x="8604250" y="4076700"/>
            <a:ext cx="0" cy="774700"/>
          </a:xfrm>
          <a:prstGeom prst="straightConnector1">
            <a:avLst/>
          </a:prstGeom>
          <a:ln w="12700">
            <a:solidFill>
              <a:srgbClr val="64748B"/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_fuse_cls"/>
          <p:cNvCxnSpPr>
            <a:stCxn id="65" idx="0"/>
            <a:endCxn id="66" idx="0"/>
          </p:cNvCxnSpPr>
          <p:nvPr>
            <p:custDataLst>
              <p:tags r:id="rId7"/>
            </p:custDataLst>
          </p:nvPr>
        </p:nvCxnSpPr>
        <p:spPr>
          <a:xfrm>
            <a:off x="11049000" y="1625600"/>
            <a:ext cx="0" cy="889000"/>
          </a:xfrm>
          <a:prstGeom prst="straightConnector1">
            <a:avLst/>
          </a:prstGeom>
          <a:ln w="17780">
            <a:solidFill>
              <a:srgbClr val="16A34A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_cls_out"/>
          <p:cNvCxnSpPr>
            <a:stCxn id="66" idx="0"/>
            <a:endCxn id="67" idx="0"/>
          </p:cNvCxnSpPr>
          <p:nvPr>
            <p:custDataLst>
              <p:tags r:id="rId8"/>
            </p:custDataLst>
          </p:nvPr>
        </p:nvCxnSpPr>
        <p:spPr>
          <a:xfrm>
            <a:off x="11049000" y="2514600"/>
            <a:ext cx="0" cy="787400"/>
          </a:xfrm>
          <a:prstGeom prst="straightConnector1">
            <a:avLst/>
          </a:prstGeom>
          <a:ln w="17780">
            <a:solidFill>
              <a:srgbClr val="16A34A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_out_metric"/>
          <p:cNvCxnSpPr>
            <a:stCxn id="67" idx="0"/>
            <a:endCxn id="68" idx="0"/>
          </p:cNvCxnSpPr>
          <p:nvPr>
            <p:custDataLst>
              <p:tags r:id="rId9"/>
            </p:custDataLst>
          </p:nvPr>
        </p:nvCxnSpPr>
        <p:spPr>
          <a:xfrm>
            <a:off x="11049000" y="3302000"/>
            <a:ext cx="0" cy="838200"/>
          </a:xfrm>
          <a:prstGeom prst="straightConnector1">
            <a:avLst/>
          </a:prstGeom>
          <a:ln w="15240">
            <a:solidFill>
              <a:srgbClr val="16A34A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_fallback_to_fusion"/>
          <p:cNvCxnSpPr>
            <a:stCxn id="57" idx="0"/>
            <a:endCxn id="65" idx="0"/>
          </p:cNvCxnSpPr>
          <p:nvPr>
            <p:custDataLst>
              <p:tags r:id="rId10"/>
            </p:custDataLst>
          </p:nvPr>
        </p:nvCxnSpPr>
        <p:spPr>
          <a:xfrm rot="16200000">
            <a:off x="8213725" y="2016125"/>
            <a:ext cx="3225800" cy="2444750"/>
          </a:xfrm>
          <a:prstGeom prst="bentConnector3">
            <a:avLst>
              <a:gd name="adj1" fmla="val 107382"/>
            </a:avLst>
          </a:prstGeom>
          <a:ln w="13970">
            <a:solidFill>
              <a:srgbClr val="64748B">
                <a:alpha val="0"/>
              </a:srgbClr>
            </a:solidFill>
            <a:prstDash val="dash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_gate_to_fusion"/>
          <p:cNvCxnSpPr>
            <a:stCxn id="56" idx="0"/>
            <a:endCxn id="65" idx="0"/>
          </p:cNvCxnSpPr>
          <p:nvPr>
            <p:custDataLst>
              <p:tags r:id="rId11"/>
            </p:custDataLst>
          </p:nvPr>
        </p:nvCxnSpPr>
        <p:spPr>
          <a:xfrm rot="16200000">
            <a:off x="8601075" y="1628775"/>
            <a:ext cx="2451100" cy="2444750"/>
          </a:xfrm>
          <a:prstGeom prst="bentConnector3">
            <a:avLst>
              <a:gd name="adj1" fmla="val 109715"/>
            </a:avLst>
          </a:prstGeom>
          <a:ln w="22860">
            <a:solidFill>
              <a:srgbClr val="10B981">
                <a:alpha val="0"/>
              </a:srgb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SCIENTIFICILLUSTRATORSOURCENAME" val="util_T"/>
  <p:tag name="SCIENTIFICILLUSTRATORTARGETNAME" val="util_joint"/>
  <p:tag name="SCIENTIFICILLUSTRATORSOURCESITE" val="1"/>
  <p:tag name="SCIENTIFICILLUSTRATORTARGETSITE" val="1"/>
</p:tagLst>
</file>

<file path=ppt/tags/tag64.xml><?xml version="1.0" encoding="utf-8"?>
<p:tagLst xmlns:p="http://schemas.openxmlformats.org/presentationml/2006/main">
  <p:tag name="SCIENTIFICILLUSTRATORSOURCENAME" val="util_A"/>
  <p:tag name="SCIENTIFICILLUSTRATORTARGETNAME" val="util_joint"/>
  <p:tag name="SCIENTIFICILLUSTRATORSOURCESITE" val="1"/>
  <p:tag name="SCIENTIFICILLUSTRATORTARGETSITE" val="1"/>
</p:tagLst>
</file>

<file path=ppt/tags/tag65.xml><?xml version="1.0" encoding="utf-8"?>
<p:tagLst xmlns:p="http://schemas.openxmlformats.org/presentationml/2006/main">
  <p:tag name="SCIENTIFICILLUSTRATORSOURCENAME" val="util_V"/>
  <p:tag name="SCIENTIFICILLUSTRATORTARGETNAME" val="util_joint"/>
  <p:tag name="SCIENTIFICILLUSTRATORSOURCESITE" val="1"/>
  <p:tag name="SCIENTIFICILLUSTRATORTARGETSITE" val="1"/>
</p:tagLst>
</file>

<file path=ppt/tags/tag66.xml><?xml version="1.0" encoding="utf-8"?>
<p:tagLst xmlns:p="http://schemas.openxmlformats.org/presentationml/2006/main">
  <p:tag name="SCIENTIFICILLUSTRATORSOURCENAME" val="util_joint"/>
  <p:tag name="SCIENTIFICILLUSTRATORTARGETNAME" val="util_cross"/>
  <p:tag name="SCIENTIFICILLUSTRATORSOURCESITE" val="1"/>
  <p:tag name="SCIENTIFICILLUSTRATORTARGETSITE" val="1"/>
</p:tagLst>
</file>

<file path=ppt/tags/tag67.xml><?xml version="1.0" encoding="utf-8"?>
<p:tagLst xmlns:p="http://schemas.openxmlformats.org/presentationml/2006/main">
  <p:tag name="SCIENTIFICILLUSTRATORSOURCENAME" val="util_cross"/>
  <p:tag name="SCIENTIFICILLUSTRATORTARGETNAME" val="two_level_gate"/>
  <p:tag name="SCIENTIFICILLUSTRATORSOURCESITE" val="1"/>
  <p:tag name="SCIENTIFICILLUSTRATORTARGETSITE" val="1"/>
</p:tagLst>
</file>

<file path=ppt/tags/tag68.xml><?xml version="1.0" encoding="utf-8"?>
<p:tagLst xmlns:p="http://schemas.openxmlformats.org/presentationml/2006/main">
  <p:tag name="SCIENTIFICILLUSTRATORSOURCENAME" val="two_level_gate"/>
  <p:tag name="SCIENTIFICILLUSTRATORTARGETNAME" val="fallback_current"/>
  <p:tag name="SCIENTIFICILLUSTRATORSOURCESITE" val="1"/>
  <p:tag name="SCIENTIFICILLUSTRATORTARGETSITE" val="1"/>
</p:tagLst>
</file>

<file path=ppt/tags/tag69.xml><?xml version="1.0" encoding="utf-8"?>
<p:tagLst xmlns:p="http://schemas.openxmlformats.org/presentationml/2006/main">
  <p:tag name="SCIENTIFICILLUSTRATORSOURCENAME" val="selected_fusion"/>
  <p:tag name="SCIENTIFICILLUSTRATORTARGETNAME" val="emotion_classifier"/>
  <p:tag name="SCIENTIFICILLUSTRATORSOURCESITE" val="1"/>
  <p:tag name="SCIENTIFICILLUSTRATORTARGETSITE" val="1"/>
</p:tagLst>
</file>

<file path=ppt/tags/tag70.xml><?xml version="1.0" encoding="utf-8"?>
<p:tagLst xmlns:p="http://schemas.openxmlformats.org/presentationml/2006/main">
  <p:tag name="SCIENTIFICILLUSTRATORSOURCENAME" val="emotion_classifier"/>
  <p:tag name="SCIENTIFICILLUSTRATORTARGETNAME" val="emotion_output"/>
  <p:tag name="SCIENTIFICILLUSTRATORSOURCESITE" val="1"/>
  <p:tag name="SCIENTIFICILLUSTRATORTARGETSITE" val="1"/>
</p:tagLst>
</file>

<file path=ppt/tags/tag71.xml><?xml version="1.0" encoding="utf-8"?>
<p:tagLst xmlns:p="http://schemas.openxmlformats.org/presentationml/2006/main">
  <p:tag name="SCIENTIFICILLUSTRATORSOURCENAME" val="emotion_output"/>
  <p:tag name="SCIENTIFICILLUSTRATORTARGETNAME" val="primary_metrics"/>
  <p:tag name="SCIENTIFICILLUSTRATORSOURCESITE" val="1"/>
  <p:tag name="SCIENTIFICILLUSTRATORTARGETSITE" val="1"/>
</p:tagLst>
</file>

<file path=ppt/tags/tag72.xml><?xml version="1.0" encoding="utf-8"?>
<p:tagLst xmlns:p="http://schemas.openxmlformats.org/presentationml/2006/main">
  <p:tag name="SCIENTIFICILLUSTRATORSOURCENAME" val="fallback_current"/>
  <p:tag name="SCIENTIFICILLUSTRATORTARGETNAME" val="selected_fusion"/>
  <p:tag name="SCIENTIFICILLUSTRATORSOURCESITE" val="1"/>
  <p:tag name="SCIENTIFICILLUSTRATORTARGETSITE" val="1"/>
</p:tagLst>
</file>

<file path=ppt/tags/tag73.xml><?xml version="1.0" encoding="utf-8"?>
<p:tagLst xmlns:p="http://schemas.openxmlformats.org/presentationml/2006/main">
  <p:tag name="SCIENTIFICILLUSTRATORSOURCENAME" val="two_level_gate"/>
  <p:tag name="SCIENTIFICILLUSTRATORTARGETNAME" val="selected_fusion"/>
  <p:tag name="SCIENTIFICILLUSTRATORSOURCESITE" val="1"/>
  <p:tag name="SCIENTIFICILLUSTRATORTARGETSI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1105</Words>
  <Application>WPS 演示</Application>
  <PresentationFormat>宽屏</PresentationFormat>
  <Paragraphs>118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Aptos</vt:lpstr>
      <vt:lpstr>Segoe UI</vt:lpstr>
      <vt:lpstr>WPS</vt:lpstr>
      <vt:lpstr>N3_TopConf_Workflow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Lenovo</dc:creator>
  <cp:lastModifiedBy>程章涛</cp:lastModifiedBy>
  <cp:revision>159</cp:revision>
  <dcterms:created xsi:type="dcterms:W3CDTF">2019-06-19T02:08:00Z</dcterms:created>
  <dcterms:modified xsi:type="dcterms:W3CDTF">2026-08-09T09:25:39Z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296BF2BF14F348A2809783F572D4A1A1_11</vt:lpwstr>
  </property>
</Properties>
</file>