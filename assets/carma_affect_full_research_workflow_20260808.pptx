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d6a46633e24e23" /><Relationship Type="http://schemas.openxmlformats.org/officeDocument/2006/relationships/extended-properties" Target="/docProps/app.xml" Id="Rc5de773f14544179" /><Relationship Type="http://schemas.openxmlformats.org/officeDocument/2006/relationships/officeDocument" Target="/ppt/presentation.xml" Id="R269bdd219da94fb7" /></Relationships>
</file>

<file path=ppt/presentation.xml><?xml version="1.0" encoding="utf-8"?>
<p:presentation xmlns:p="http://schemas.openxmlformats.org/presentationml/2006/main">
  <p:sldMasterIdLst>
    <p:sldMasterId xmlns:r="http://schemas.openxmlformats.org/officeDocument/2006/relationships" id="2147483648" r:id="Re458fe6aee46486a"/>
  </p:sldMasterIdLst>
  <p:notesMasterIdLst>
    <p:notesMasterId xmlns:r="http://schemas.openxmlformats.org/officeDocument/2006/relationships" r:id="R91ad26fbae504027"/>
  </p:notesMasterIdLst>
  <p:sldIdLst>
    <p:sldId xmlns:r="http://schemas.openxmlformats.org/officeDocument/2006/relationships" id="256" r:id="R5fd7fedf53b74a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d6199940c54231" /><Relationship Type="http://schemas.openxmlformats.org/officeDocument/2006/relationships/slideMaster" Target="/ppt/slideMasters/slideMaster1.xml" Id="Re458fe6aee46486a" /><Relationship Type="http://schemas.openxmlformats.org/officeDocument/2006/relationships/notesMaster" Target="/ppt/notesMasters/notesMaster1.xml" Id="R91ad26fbae504027" /><Relationship Type="http://schemas.openxmlformats.org/officeDocument/2006/relationships/presProps" Target="/ppt/presProps.xml" Id="R6f4239b1f839474a" /><Relationship Type="http://schemas.openxmlformats.org/officeDocument/2006/relationships/tableStyles" Target="/ppt/tableStyles.xml" Id="R48946069b3104130" /><Relationship Type="http://schemas.openxmlformats.org/officeDocument/2006/relationships/slide" Target="/ppt/slides/slide1.xml" Id="R5fd7fedf53b74a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585573f4774f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bbc9b4f4f14560" /><Relationship Type="http://schemas.openxmlformats.org/officeDocument/2006/relationships/notesMaster" Target="/ppt/notesMasters/notesMaster1.xml" Id="R21cd6105ae5148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讲解顺序：先说明问题不是‘多加历史一定更好’，而是‘历史何时有用、何时有害、何时应回退’。</a:t>
            </a:r>
          </a:p>
          <a:p xmlns:a="http://schemas.openxmlformats.org/drawingml/2006/main">
            <a:r>
              <a:t>最核心的方法创新是不同集合语境下的前向加入效用与后向删除效用；若 T=S∪{hᵢ}，两者会退化为同一数值，不构成非平凡双向创新。</a:t>
            </a:r>
          </a:p>
          <a:p xmlns:a="http://schemas.openxmlformats.org/drawingml/2006/main">
            <a:r>
              <a:t>情感理论和六流/3×3结构本身已有大量邻近工作，创新主张只能落在整套组合与严格 train-only OOF、风险校准、可逆回退的闭环上。</a:t>
            </a:r>
          </a:p>
          <a:p xmlns:a="http://schemas.openxmlformats.org/drawingml/2006/main">
            <a:r>
              <a:t>当前完成的是问题存在性与失败诊断；新方法仍需通过图中 GO 条件，不能提前表述为有效。</a:t>
            </a:r>
          </a:p>
          <a:p xmlns:a="http://schemas.openxmlformats.org/drawingml/2006/main">
            <a:r>
              <a:t>[Sources]</a:t>
            </a:r>
          </a:p>
          <a:p xmlns:a="http://schemas.openxmlformats.org/drawingml/2006/main">
            <a:r>
              <a:t>- Internal evidence: docs/08_双数据集负迁移Benchmark探索报告_2026-08-07.md</a:t>
            </a:r>
          </a:p>
          <a:p xmlns:a="http://schemas.openxmlformats.org/drawingml/2006/main">
            <a:r>
              <a:t>- Internal evidence: docs/09_EmotionTalk端点效用诊断与两部式修复决策_2026-08-07.md</a:t>
            </a:r>
          </a:p>
          <a:p xmlns:a="http://schemas.openxmlformats.org/drawingml/2006/main">
            <a:r>
              <a:t>- Novelty audit: literature_search_20260807/CARMA-Affect_前三项创新_新颖性审计_2026-08-07.md</a:t>
            </a:r>
          </a:p>
          <a:p xmlns:a="http://schemas.openxmlformats.org/drawingml/2006/main">
            <a:r>
              <a:t>- MetaDrop: https://doi.org/10.1145/3474085.3475661</a:t>
            </a:r>
          </a:p>
          <a:p xmlns:a="http://schemas.openxmlformats.org/drawingml/2006/main">
            <a:r>
              <a:t>- Intra/inter-modal influence: https://doi.org/10.1145/3394171.3413949</a:t>
            </a:r>
          </a:p>
          <a:p xmlns:a="http://schemas.openxmlformats.org/drawingml/2006/main">
            <a:r>
              <a:t>- Self-adaptive context/modal interaction: https://doi.org/10.18653/v1/2023.findings-acl.390</a:t>
            </a:r>
          </a:p>
          <a:p xmlns:a="http://schemas.openxmlformats.org/drawingml/2006/main">
            <a:r>
              <a:t>- Appraisal/CAT: https://doi.org/10.1016/j.cognition.2015.06.010</a:t>
            </a:r>
          </a:p>
          <a:p xmlns:a="http://schemas.openxmlformats.org/drawingml/2006/main">
            <a:r>
              <a:t>- TEEP/CPM: https://doi.org/10.3389/fpsyg.2019.00508</a:t>
            </a:r>
          </a:p>
          <a:p xmlns:a="http://schemas.openxmlformats.org/drawingml/2006/main">
            <a:r>
              <a:t>- emotion2vec: https://doi.org/10.18653/v1/2024.findings-acl.931</a:t>
            </a:r>
          </a:p>
          <a:p xmlns:a="http://schemas.openxmlformats.org/drawingml/2006/main">
            <a:r>
              <a:t>- EmoBERTa: https://arxiv.org/abs/2108.12009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debcf86f5d42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c280b9b7574958" /><Relationship Type="http://schemas.openxmlformats.org/officeDocument/2006/relationships/slideLayout" Target="/ppt/slideLayouts/slideLayout1.xml" Id="Rdd71e19393fa48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71e19393fa48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bd5954cfd04751" /><Relationship Type="http://schemas.openxmlformats.org/officeDocument/2006/relationships/notesSlide" Target="/ppt/notesSlides/notesSlide1.xml" Id="Re6df3c44578146b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main-title">
            <a:extLst xmlns:a="http://schemas.openxmlformats.org/drawingml/2006/main">
              <a:ext uri="{FF2B5EF4-FFF2-40B4-BE49-F238E27FC236}">
                <a16:creationId xmlns:a16="http://schemas.microsoft.com/office/drawing/2014/main" id="{C43A87F6-742E-4D6E-B998-2F6D4E55CFC6}"/>
              </a:ext>
            </a:extLst>
          </p:cNvPr>
          <p:cNvSpPr>
            <a:spLocks xmlns:a="http://schemas.openxmlformats.org/drawingml/2006/main" noGrp="1"/>
          </p:cNvSpPr>
          <p:nvPr/>
        </p:nvSpPr>
        <p:spPr>
          <a:xfrm xmlns:a="http://schemas.openxmlformats.org/drawingml/2006/main">
            <a:off x="361950" y="2667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2850" b="1">
                <a:solidFill>
                  <a:srgbClr val="0F172A"/>
                </a:solidFill>
                <a:latin typeface="Microsoft YaHei"/>
                <a:ea typeface="Microsoft YaHei"/>
                <a:cs typeface="Microsoft YaHei"/>
              </a:defRPr>
            </a:pPr>
            <a:r>
              <a:rPr sz="2850" b="1">
                <a:solidFill>
                  <a:srgbClr val="0F172A"/>
                </a:solidFill>
                <a:latin typeface="Microsoft YaHei"/>
                <a:ea typeface="Microsoft YaHei"/>
                <a:cs typeface="Microsoft YaHei"/>
              </a:rPr>
              <a:t>CARMA-Affect：情感理论约束的双向历史效用科研全流程</a:t>
            </a:r>
          </a:p>
        </p:txBody>
      </p:sp>
      <p:sp>
        <p:nvSpPr>
          <p:cNvPr id="2" name="subtitle">
            <a:extLst xmlns:a="http://schemas.openxmlformats.org/drawingml/2006/main">
              <a:ext uri="{FF2B5EF4-FFF2-40B4-BE49-F238E27FC236}">
                <a16:creationId xmlns:a16="http://schemas.microsoft.com/office/drawing/2014/main" id="{24839499-1669-4593-BEA7-FCF4AB1170E0}"/>
              </a:ext>
            </a:extLst>
          </p:cNvPr>
          <p:cNvSpPr>
            <a:spLocks xmlns:a="http://schemas.openxmlformats.org/drawingml/2006/main" noGrp="1"/>
          </p:cNvSpPr>
          <p:nvPr/>
        </p:nvSpPr>
        <p:spPr>
          <a:xfrm xmlns:a="http://schemas.openxmlformats.org/drawingml/2006/main">
            <a:off x="381000" y="781050"/>
            <a:ext cx="11287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0">
                <a:solidFill>
                  <a:srgbClr val="475569"/>
                </a:solidFill>
                <a:latin typeface="Microsoft YaHei"/>
                <a:ea typeface="Microsoft YaHei"/>
                <a:cs typeface="Microsoft YaHei"/>
              </a:defRPr>
            </a:pPr>
            <a:r>
              <a:rPr sz="1275" b="0">
                <a:solidFill>
                  <a:srgbClr val="475569"/>
                </a:solidFill>
                <a:latin typeface="Microsoft YaHei"/>
                <a:ea typeface="Microsoft YaHei"/>
                <a:cs typeface="Microsoft YaHei"/>
              </a:rPr>
              <a:t>目标：提升情感分类，同时把‘使用历史会伤害当前判断’转化为可测量、可校准、可回退的决策问题</a:t>
            </a:r>
          </a:p>
        </p:txBody>
      </p:sp>
      <p:sp>
        <p:nvSpPr>
          <p:cNvPr id="3" name="novelty-audit-band">
            <a:extLst xmlns:a="http://schemas.openxmlformats.org/drawingml/2006/main">
              <a:ext uri="{FF2B5EF4-FFF2-40B4-BE49-F238E27FC236}">
                <a16:creationId xmlns:a16="http://schemas.microsoft.com/office/drawing/2014/main" id="{41265CA5-3F16-446D-A372-67F41DAAF80C}"/>
              </a:ext>
            </a:extLst>
          </p:cNvPr>
          <p:cNvSpPr>
            <a:spLocks xmlns:a="http://schemas.openxmlformats.org/drawingml/2006/main" noGrp="1"/>
          </p:cNvSpPr>
          <p:nvPr/>
        </p:nvSpPr>
        <p:spPr>
          <a:xfrm xmlns:a="http://schemas.openxmlformats.org/drawingml/2006/main">
            <a:off x="381000" y="1123950"/>
            <a:ext cx="11430000" cy="295275"/>
          </a:xfrm>
          <a:prstGeom xmlns:a="http://schemas.openxmlformats.org/drawingml/2006/main" prst="roundRect">
            <a:avLst>
              <a:gd name="adj" fmla="val 19355"/>
            </a:avLst>
          </a:prstGeom>
          <a:solidFill xmlns:a="http://schemas.openxmlformats.org/drawingml/2006/main">
            <a:srgbClr val="EFF6FF"/>
          </a:solidFill>
          <a:ln xmlns:a="http://schemas.openxmlformats.org/drawingml/2006/main" w="9525">
            <a:solidFill>
              <a:srgbClr val="BFDBFE"/>
            </a:solidFill>
            <a:prstDash val="solid"/>
          </a:ln>
        </p:spPr>
        <p:txBody>
          <a:bodyPr xmlns:a="http://schemas.openxmlformats.org/drawingml/2006/main" wrap="square" lIns="114300" tIns="0" rIns="95250" bIns="0" anchor="ctr">
            <a:normAutofit fontScale="100000"/>
          </a:bodyPr>
          <a:lstStyle xmlns:a="http://schemas.openxmlformats.org/drawingml/2006/main"/>
          <a:p xmlns:a="http://schemas.openxmlformats.org/drawingml/2006/main">
            <a:pPr algn="l">
              <a:lnSpc>
                <a:spcPct val="102000"/>
              </a:lnSpc>
              <a:buNone/>
              <a:defRPr sz="1275" b="1">
                <a:solidFill>
                  <a:srgbClr val="1E3A8A"/>
                </a:solidFill>
                <a:latin typeface="Microsoft YaHei"/>
                <a:ea typeface="Microsoft YaHei"/>
                <a:cs typeface="Microsoft YaHei"/>
              </a:defRPr>
            </a:pPr>
            <a:r>
              <a:rPr sz="1275" b="1">
                <a:solidFill>
                  <a:srgbClr val="1E3A8A"/>
                </a:solidFill>
                <a:latin typeface="Microsoft YaHei"/>
                <a:ea typeface="Microsoft YaHei"/>
                <a:cs typeface="Microsoft YaHei"/>
              </a:rPr>
              <a:t>0  文献检索与创新审计   →   保留组合创新：不同集合双向效用 × 情感理论 × 3×3关系 × 校准回退</a:t>
            </a:r>
          </a:p>
        </p:txBody>
      </p:sp>
      <p:sp>
        <p:nvSpPr>
          <p:cNvPr id="4" name="flow-arrow-1">
            <a:extLst xmlns:a="http://schemas.openxmlformats.org/drawingml/2006/main">
              <a:ext uri="{FF2B5EF4-FFF2-40B4-BE49-F238E27FC236}">
                <a16:creationId xmlns:a16="http://schemas.microsoft.com/office/drawing/2014/main" id="{AC90E580-B074-4DB0-9A4D-3DEC47187CEC}"/>
              </a:ext>
            </a:extLst>
          </p:cNvPr>
          <p:cNvSpPr>
            <a:spLocks xmlns:a="http://schemas.openxmlformats.org/drawingml/2006/main" noGrp="1"/>
          </p:cNvSpPr>
          <p:nvPr/>
        </p:nvSpPr>
        <p:spPr>
          <a:xfrm xmlns:a="http://schemas.openxmlformats.org/drawingml/2006/main">
            <a:off x="2095500" y="3076575"/>
            <a:ext cx="171450" cy="228600"/>
          </a:xfrm>
          <a:prstGeom xmlns:a="http://schemas.openxmlformats.org/drawingml/2006/main" prst="rightArrow">
            <a:avLst/>
          </a:prstGeom>
          <a:solidFill xmlns:a="http://schemas.openxmlformats.org/drawingml/2006/main">
            <a:srgbClr val="94A3B8"/>
          </a:solidFill>
          <a:ln xmlns:a="http://schemas.openxmlformats.org/drawingml/2006/main" w="0">
            <a:solidFill>
              <a:srgbClr val="94A3B8"/>
            </a:solidFill>
            <a:prstDash val="solid"/>
          </a:ln>
        </p:spPr>
      </p:sp>
      <p:sp>
        <p:nvSpPr>
          <p:cNvPr id="5" name="flow-arrow-2">
            <a:extLst xmlns:a="http://schemas.openxmlformats.org/drawingml/2006/main">
              <a:ext uri="{FF2B5EF4-FFF2-40B4-BE49-F238E27FC236}">
                <a16:creationId xmlns:a16="http://schemas.microsoft.com/office/drawing/2014/main" id="{78904A6C-DF65-49B7-8442-875A089B6E1F}"/>
              </a:ext>
            </a:extLst>
          </p:cNvPr>
          <p:cNvSpPr>
            <a:spLocks xmlns:a="http://schemas.openxmlformats.org/drawingml/2006/main" noGrp="1"/>
          </p:cNvSpPr>
          <p:nvPr/>
        </p:nvSpPr>
        <p:spPr>
          <a:xfrm xmlns:a="http://schemas.openxmlformats.org/drawingml/2006/main">
            <a:off x="4343400" y="3076575"/>
            <a:ext cx="171450" cy="228600"/>
          </a:xfrm>
          <a:prstGeom xmlns:a="http://schemas.openxmlformats.org/drawingml/2006/main" prst="rightArrow">
            <a:avLst/>
          </a:prstGeom>
          <a:solidFill xmlns:a="http://schemas.openxmlformats.org/drawingml/2006/main">
            <a:srgbClr val="94A3B8"/>
          </a:solidFill>
          <a:ln xmlns:a="http://schemas.openxmlformats.org/drawingml/2006/main" w="0">
            <a:solidFill>
              <a:srgbClr val="94A3B8"/>
            </a:solidFill>
            <a:prstDash val="solid"/>
          </a:ln>
        </p:spPr>
      </p:sp>
      <p:sp>
        <p:nvSpPr>
          <p:cNvPr id="6" name="flow-arrow-3">
            <a:extLst xmlns:a="http://schemas.openxmlformats.org/drawingml/2006/main">
              <a:ext uri="{FF2B5EF4-FFF2-40B4-BE49-F238E27FC236}">
                <a16:creationId xmlns:a16="http://schemas.microsoft.com/office/drawing/2014/main" id="{BEBA0364-9610-4864-BCC1-C0E81EB80C6C}"/>
              </a:ext>
            </a:extLst>
          </p:cNvPr>
          <p:cNvSpPr>
            <a:spLocks xmlns:a="http://schemas.openxmlformats.org/drawingml/2006/main" noGrp="1"/>
          </p:cNvSpPr>
          <p:nvPr/>
        </p:nvSpPr>
        <p:spPr>
          <a:xfrm xmlns:a="http://schemas.openxmlformats.org/drawingml/2006/main">
            <a:off x="7162800" y="3076575"/>
            <a:ext cx="171450" cy="228600"/>
          </a:xfrm>
          <a:prstGeom xmlns:a="http://schemas.openxmlformats.org/drawingml/2006/main" prst="rightArrow">
            <a:avLst/>
          </a:prstGeom>
          <a:solidFill xmlns:a="http://schemas.openxmlformats.org/drawingml/2006/main">
            <a:srgbClr val="94A3B8"/>
          </a:solidFill>
          <a:ln xmlns:a="http://schemas.openxmlformats.org/drawingml/2006/main" w="0">
            <a:solidFill>
              <a:srgbClr val="94A3B8"/>
            </a:solidFill>
            <a:prstDash val="solid"/>
          </a:ln>
        </p:spPr>
      </p:sp>
      <p:sp>
        <p:nvSpPr>
          <p:cNvPr id="7" name="flow-arrow-4">
            <a:extLst xmlns:a="http://schemas.openxmlformats.org/drawingml/2006/main">
              <a:ext uri="{FF2B5EF4-FFF2-40B4-BE49-F238E27FC236}">
                <a16:creationId xmlns:a16="http://schemas.microsoft.com/office/drawing/2014/main" id="{D32072F5-6411-4828-9805-EFBB36CADA3B}"/>
              </a:ext>
            </a:extLst>
          </p:cNvPr>
          <p:cNvSpPr>
            <a:spLocks xmlns:a="http://schemas.openxmlformats.org/drawingml/2006/main" noGrp="1"/>
          </p:cNvSpPr>
          <p:nvPr/>
        </p:nvSpPr>
        <p:spPr>
          <a:xfrm xmlns:a="http://schemas.openxmlformats.org/drawingml/2006/main">
            <a:off x="9315450" y="3076575"/>
            <a:ext cx="171450" cy="228600"/>
          </a:xfrm>
          <a:prstGeom xmlns:a="http://schemas.openxmlformats.org/drawingml/2006/main" prst="rightArrow">
            <a:avLst/>
          </a:prstGeom>
          <a:solidFill xmlns:a="http://schemas.openxmlformats.org/drawingml/2006/main">
            <a:srgbClr val="94A3B8"/>
          </a:solidFill>
          <a:ln xmlns:a="http://schemas.openxmlformats.org/drawingml/2006/main" w="0">
            <a:solidFill>
              <a:srgbClr val="94A3B8"/>
            </a:solidFill>
            <a:prstDash val="solid"/>
          </a:ln>
        </p:spPr>
      </p:sp>
      <p:sp>
        <p:nvSpPr>
          <p:cNvPr id="8" name="stage-1-card">
            <a:extLst xmlns:a="http://schemas.openxmlformats.org/drawingml/2006/main">
              <a:ext uri="{FF2B5EF4-FFF2-40B4-BE49-F238E27FC236}">
                <a16:creationId xmlns:a16="http://schemas.microsoft.com/office/drawing/2014/main" id="{4D657D07-2938-4BEF-934C-D395397C7BA1}"/>
              </a:ext>
            </a:extLst>
          </p:cNvPr>
          <p:cNvSpPr>
            <a:spLocks xmlns:a="http://schemas.openxmlformats.org/drawingml/2006/main" noGrp="1"/>
          </p:cNvSpPr>
          <p:nvPr/>
        </p:nvSpPr>
        <p:spPr>
          <a:xfrm xmlns:a="http://schemas.openxmlformats.org/drawingml/2006/main">
            <a:off x="304800" y="1562100"/>
            <a:ext cx="1809750" cy="348615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stage-1-accent">
            <a:extLst xmlns:a="http://schemas.openxmlformats.org/drawingml/2006/main">
              <a:ext uri="{FF2B5EF4-FFF2-40B4-BE49-F238E27FC236}">
                <a16:creationId xmlns:a16="http://schemas.microsoft.com/office/drawing/2014/main" id="{BC370C4D-D178-43DF-9727-4526134F0FFD}"/>
              </a:ext>
            </a:extLst>
          </p:cNvPr>
          <p:cNvSpPr>
            <a:spLocks xmlns:a="http://schemas.openxmlformats.org/drawingml/2006/main" noGrp="1"/>
          </p:cNvSpPr>
          <p:nvPr/>
        </p:nvSpPr>
        <p:spPr>
          <a:xfrm xmlns:a="http://schemas.openxmlformats.org/drawingml/2006/main">
            <a:off x="304800" y="1562100"/>
            <a:ext cx="1809750" cy="762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10" name="stage-1-badge">
            <a:extLst xmlns:a="http://schemas.openxmlformats.org/drawingml/2006/main">
              <a:ext uri="{FF2B5EF4-FFF2-40B4-BE49-F238E27FC236}">
                <a16:creationId xmlns:a16="http://schemas.microsoft.com/office/drawing/2014/main" id="{46963A8A-07C6-48E8-89DC-1561F633A53D}"/>
              </a:ext>
            </a:extLst>
          </p:cNvPr>
          <p:cNvSpPr>
            <a:spLocks xmlns:a="http://schemas.openxmlformats.org/drawingml/2006/main" noGrp="1"/>
          </p:cNvSpPr>
          <p:nvPr/>
        </p:nvSpPr>
        <p:spPr>
          <a:xfrm xmlns:a="http://schemas.openxmlformats.org/drawingml/2006/main">
            <a:off x="438150" y="1771650"/>
            <a:ext cx="323850" cy="32385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1" name="stage-1-title">
            <a:extLst xmlns:a="http://schemas.openxmlformats.org/drawingml/2006/main">
              <a:ext uri="{FF2B5EF4-FFF2-40B4-BE49-F238E27FC236}">
                <a16:creationId xmlns:a16="http://schemas.microsoft.com/office/drawing/2014/main" id="{4E48D9B4-4212-4B94-8274-6A317944228F}"/>
              </a:ext>
            </a:extLst>
          </p:cNvPr>
          <p:cNvSpPr>
            <a:spLocks xmlns:a="http://schemas.openxmlformats.org/drawingml/2006/main" noGrp="1"/>
          </p:cNvSpPr>
          <p:nvPr/>
        </p:nvSpPr>
        <p:spPr>
          <a:xfrm xmlns:a="http://schemas.openxmlformats.org/drawingml/2006/main">
            <a:off x="857250" y="1743075"/>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855"/>
          </a:bodyPr>
          <a:lstStyle xmlns:a="http://schemas.openxmlformats.org/drawingml/2006/main"/>
          <a:p xmlns:a="http://schemas.openxmlformats.org/drawingml/2006/main">
            <a:pPr algn="l">
              <a:lnSpc>
                <a:spcPct val="102000"/>
              </a:lnSpc>
              <a:buNone/>
              <a:defRPr sz="1350" b="1">
                <a:solidFill>
                  <a:srgbClr val="0F172A"/>
                </a:solidFill>
                <a:latin typeface="Microsoft YaHei"/>
                <a:ea typeface="Microsoft YaHei"/>
                <a:cs typeface="Microsoft YaHei"/>
              </a:defRPr>
            </a:pPr>
            <a:r>
              <a:rPr sz="1350" b="1">
                <a:solidFill>
                  <a:srgbClr val="0F172A"/>
                </a:solidFill>
                <a:latin typeface="Microsoft YaHei"/>
                <a:ea typeface="Microsoft YaHei"/>
                <a:cs typeface="Microsoft YaHei"/>
              </a:rPr>
              <a:t>数据与时间合同</a:t>
            </a:r>
          </a:p>
        </p:txBody>
      </p:sp>
      <p:sp>
        <p:nvSpPr>
          <p:cNvPr id="12" name="stage-1-rule">
            <a:extLst xmlns:a="http://schemas.openxmlformats.org/drawingml/2006/main">
              <a:ext uri="{FF2B5EF4-FFF2-40B4-BE49-F238E27FC236}">
                <a16:creationId xmlns:a16="http://schemas.microsoft.com/office/drawing/2014/main" id="{312874E0-B206-474C-8B9F-9CDB0276E2E1}"/>
              </a:ext>
            </a:extLst>
          </p:cNvPr>
          <p:cNvSpPr>
            <a:spLocks xmlns:a="http://schemas.openxmlformats.org/drawingml/2006/main" noGrp="1"/>
          </p:cNvSpPr>
          <p:nvPr/>
        </p:nvSpPr>
        <p:spPr>
          <a:xfrm xmlns:a="http://schemas.openxmlformats.org/drawingml/2006/main">
            <a:off x="438150" y="2228850"/>
            <a:ext cx="15430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 name="stage-1-body">
            <a:extLst xmlns:a="http://schemas.openxmlformats.org/drawingml/2006/main">
              <a:ext uri="{FF2B5EF4-FFF2-40B4-BE49-F238E27FC236}">
                <a16:creationId xmlns:a16="http://schemas.microsoft.com/office/drawing/2014/main" id="{24DA517E-09BD-496F-BB0E-51BED75C8F3A}"/>
              </a:ext>
            </a:extLst>
          </p:cNvPr>
          <p:cNvSpPr>
            <a:spLocks xmlns:a="http://schemas.openxmlformats.org/drawingml/2006/main" noGrp="1"/>
          </p:cNvSpPr>
          <p:nvPr/>
        </p:nvSpPr>
        <p:spPr>
          <a:xfrm xmlns:a="http://schemas.openxmlformats.org/drawingml/2006/main">
            <a:off x="447675" y="2362200"/>
            <a:ext cx="152400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rmAutofit fontScale="100000"/>
          </a:bodyPr>
          <a:lstStyle xmlns:a="http://schemas.openxmlformats.org/drawingml/2006/main"/>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 MELD / IEMOCAP / EmotionTalk</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 当前轮 t 与历史 &lt; t 严格分离</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 train-only OOF 监督</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 dev/test 封存；按对话/人物聚类</a:t>
            </a:r>
          </a:p>
        </p:txBody>
      </p:sp>
      <p:sp>
        <p:nvSpPr>
          <p:cNvPr id="14" name="stage-2-card">
            <a:extLst xmlns:a="http://schemas.openxmlformats.org/drawingml/2006/main">
              <a:ext uri="{FF2B5EF4-FFF2-40B4-BE49-F238E27FC236}">
                <a16:creationId xmlns:a16="http://schemas.microsoft.com/office/drawing/2014/main" id="{05B4792E-6C75-4639-A2F7-F1F0C23B741A}"/>
              </a:ext>
            </a:extLst>
          </p:cNvPr>
          <p:cNvSpPr>
            <a:spLocks xmlns:a="http://schemas.openxmlformats.org/drawingml/2006/main" noGrp="1"/>
          </p:cNvSpPr>
          <p:nvPr/>
        </p:nvSpPr>
        <p:spPr>
          <a:xfrm xmlns:a="http://schemas.openxmlformats.org/drawingml/2006/main">
            <a:off x="2247900" y="1562100"/>
            <a:ext cx="2114550" cy="3486150"/>
          </a:xfrm>
          <a:prstGeom xmlns:a="http://schemas.openxmlformats.org/drawingml/2006/main" prst="roundRect">
            <a:avLst>
              <a:gd name="adj" fmla="val 4505"/>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stage-2-accent">
            <a:extLst xmlns:a="http://schemas.openxmlformats.org/drawingml/2006/main">
              <a:ext uri="{FF2B5EF4-FFF2-40B4-BE49-F238E27FC236}">
                <a16:creationId xmlns:a16="http://schemas.microsoft.com/office/drawing/2014/main" id="{6BDA8197-A9EF-44AC-A510-96027B0EB11F}"/>
              </a:ext>
            </a:extLst>
          </p:cNvPr>
          <p:cNvSpPr>
            <a:spLocks xmlns:a="http://schemas.openxmlformats.org/drawingml/2006/main" noGrp="1"/>
          </p:cNvSpPr>
          <p:nvPr/>
        </p:nvSpPr>
        <p:spPr>
          <a:xfrm xmlns:a="http://schemas.openxmlformats.org/drawingml/2006/main">
            <a:off x="2247900" y="1562100"/>
            <a:ext cx="2114550" cy="76200"/>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prstDash val="solid"/>
          </a:ln>
        </p:spPr>
      </p:sp>
      <p:sp>
        <p:nvSpPr>
          <p:cNvPr id="16" name="stage-2-badge">
            <a:extLst xmlns:a="http://schemas.openxmlformats.org/drawingml/2006/main">
              <a:ext uri="{FF2B5EF4-FFF2-40B4-BE49-F238E27FC236}">
                <a16:creationId xmlns:a16="http://schemas.microsoft.com/office/drawing/2014/main" id="{790B01CC-7707-494B-8D5D-D91513BF457D}"/>
              </a:ext>
            </a:extLst>
          </p:cNvPr>
          <p:cNvSpPr>
            <a:spLocks xmlns:a="http://schemas.openxmlformats.org/drawingml/2006/main" noGrp="1"/>
          </p:cNvSpPr>
          <p:nvPr/>
        </p:nvSpPr>
        <p:spPr>
          <a:xfrm xmlns:a="http://schemas.openxmlformats.org/drawingml/2006/main">
            <a:off x="2381250" y="1771650"/>
            <a:ext cx="323850" cy="32385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7" name="stage-2-title">
            <a:extLst xmlns:a="http://schemas.openxmlformats.org/drawingml/2006/main">
              <a:ext uri="{FF2B5EF4-FFF2-40B4-BE49-F238E27FC236}">
                <a16:creationId xmlns:a16="http://schemas.microsoft.com/office/drawing/2014/main" id="{BF264D19-17AB-4B51-A2AF-49F693DDF9CF}"/>
              </a:ext>
            </a:extLst>
          </p:cNvPr>
          <p:cNvSpPr>
            <a:spLocks xmlns:a="http://schemas.openxmlformats.org/drawingml/2006/main" noGrp="1"/>
          </p:cNvSpPr>
          <p:nvPr/>
        </p:nvSpPr>
        <p:spPr>
          <a:xfrm xmlns:a="http://schemas.openxmlformats.org/drawingml/2006/main">
            <a:off x="2800350" y="1743075"/>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1">
                <a:solidFill>
                  <a:srgbClr val="0F172A"/>
                </a:solidFill>
                <a:latin typeface="Microsoft YaHei"/>
                <a:ea typeface="Microsoft YaHei"/>
                <a:cs typeface="Microsoft YaHei"/>
              </a:defRPr>
            </a:pPr>
            <a:r>
              <a:rPr sz="1350" b="1">
                <a:solidFill>
                  <a:srgbClr val="0F172A"/>
                </a:solidFill>
                <a:latin typeface="Microsoft YaHei"/>
                <a:ea typeface="Microsoft YaHei"/>
                <a:cs typeface="Microsoft YaHei"/>
              </a:rPr>
              <a:t>六流情感编码</a:t>
            </a:r>
          </a:p>
        </p:txBody>
      </p:sp>
      <p:sp>
        <p:nvSpPr>
          <p:cNvPr id="18" name="stage-2-rule">
            <a:extLst xmlns:a="http://schemas.openxmlformats.org/drawingml/2006/main">
              <a:ext uri="{FF2B5EF4-FFF2-40B4-BE49-F238E27FC236}">
                <a16:creationId xmlns:a16="http://schemas.microsoft.com/office/drawing/2014/main" id="{7794019C-EB6F-40EA-BC12-EC964BD92973}"/>
              </a:ext>
            </a:extLst>
          </p:cNvPr>
          <p:cNvSpPr>
            <a:spLocks xmlns:a="http://schemas.openxmlformats.org/drawingml/2006/main" noGrp="1"/>
          </p:cNvSpPr>
          <p:nvPr/>
        </p:nvSpPr>
        <p:spPr>
          <a:xfrm xmlns:a="http://schemas.openxmlformats.org/drawingml/2006/main">
            <a:off x="2381250" y="2228850"/>
            <a:ext cx="18478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 name="stage-2-body">
            <a:extLst xmlns:a="http://schemas.openxmlformats.org/drawingml/2006/main">
              <a:ext uri="{FF2B5EF4-FFF2-40B4-BE49-F238E27FC236}">
                <a16:creationId xmlns:a16="http://schemas.microsoft.com/office/drawing/2014/main" id="{6F41BCC4-7694-4AFD-BC73-D92B1FD295E6}"/>
              </a:ext>
            </a:extLst>
          </p:cNvPr>
          <p:cNvSpPr>
            <a:spLocks xmlns:a="http://schemas.openxmlformats.org/drawingml/2006/main" noGrp="1"/>
          </p:cNvSpPr>
          <p:nvPr/>
        </p:nvSpPr>
        <p:spPr>
          <a:xfrm xmlns:a="http://schemas.openxmlformats.org/drawingml/2006/main">
            <a:off x="2390775" y="2362200"/>
            <a:ext cx="182880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rmAutofit fontScale="100000"/>
          </a:bodyPr>
          <a:lstStyle xmlns:a="http://schemas.openxmlformats.org/drawingml/2006/main"/>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当前：文本 T / 音频 A / 视频 V</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历史：Tₕ / Aₕ / Vₕ</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情感理论：CPM / 评价理论</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VAD / 情感转移</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领域模型：EmoBERTa</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emotion2vec / AU表情</a:t>
            </a:r>
          </a:p>
        </p:txBody>
      </p:sp>
      <p:sp>
        <p:nvSpPr>
          <p:cNvPr id="20" name="stage-3-card">
            <a:extLst xmlns:a="http://schemas.openxmlformats.org/drawingml/2006/main">
              <a:ext uri="{FF2B5EF4-FFF2-40B4-BE49-F238E27FC236}">
                <a16:creationId xmlns:a16="http://schemas.microsoft.com/office/drawing/2014/main" id="{418A7823-DFA0-4623-8EF7-F3AC5E8B72A3}"/>
              </a:ext>
            </a:extLst>
          </p:cNvPr>
          <p:cNvSpPr>
            <a:spLocks xmlns:a="http://schemas.openxmlformats.org/drawingml/2006/main" noGrp="1"/>
          </p:cNvSpPr>
          <p:nvPr/>
        </p:nvSpPr>
        <p:spPr>
          <a:xfrm xmlns:a="http://schemas.openxmlformats.org/drawingml/2006/main">
            <a:off x="4495800" y="1562100"/>
            <a:ext cx="2686050" cy="3486150"/>
          </a:xfrm>
          <a:prstGeom xmlns:a="http://schemas.openxmlformats.org/drawingml/2006/main" prst="roundRect">
            <a:avLst>
              <a:gd name="adj" fmla="val 3546"/>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stage-3-accent">
            <a:extLst xmlns:a="http://schemas.openxmlformats.org/drawingml/2006/main">
              <a:ext uri="{FF2B5EF4-FFF2-40B4-BE49-F238E27FC236}">
                <a16:creationId xmlns:a16="http://schemas.microsoft.com/office/drawing/2014/main" id="{DE34637B-033D-42CB-A722-83589484D3BB}"/>
              </a:ext>
            </a:extLst>
          </p:cNvPr>
          <p:cNvSpPr>
            <a:spLocks xmlns:a="http://schemas.openxmlformats.org/drawingml/2006/main" noGrp="1"/>
          </p:cNvSpPr>
          <p:nvPr/>
        </p:nvSpPr>
        <p:spPr>
          <a:xfrm xmlns:a="http://schemas.openxmlformats.org/drawingml/2006/main">
            <a:off x="4495800" y="1562100"/>
            <a:ext cx="2686050" cy="762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22" name="stage-3-badge">
            <a:extLst xmlns:a="http://schemas.openxmlformats.org/drawingml/2006/main">
              <a:ext uri="{FF2B5EF4-FFF2-40B4-BE49-F238E27FC236}">
                <a16:creationId xmlns:a16="http://schemas.microsoft.com/office/drawing/2014/main" id="{07574B35-6FB8-498E-8902-97E5B9092768}"/>
              </a:ext>
            </a:extLst>
          </p:cNvPr>
          <p:cNvSpPr>
            <a:spLocks xmlns:a="http://schemas.openxmlformats.org/drawingml/2006/main" noGrp="1"/>
          </p:cNvSpPr>
          <p:nvPr/>
        </p:nvSpPr>
        <p:spPr>
          <a:xfrm xmlns:a="http://schemas.openxmlformats.org/drawingml/2006/main">
            <a:off x="4629150" y="1771650"/>
            <a:ext cx="323850" cy="323850"/>
          </a:xfrm>
          <a:prstGeom xmlns:a="http://schemas.openxmlformats.org/drawingml/2006/main" prst="ellipse">
            <a:avLst/>
          </a:prstGeom>
          <a:solidFill xmlns:a="http://schemas.openxmlformats.org/drawingml/2006/main">
            <a:srgbClr val="0F766E"/>
          </a:solidFill>
          <a:ln xmlns:a="http://schemas.openxmlformats.org/drawingml/2006/main" w="0">
            <a:solidFill>
              <a:srgbClr val="0F766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23" name="stage-3-title">
            <a:extLst xmlns:a="http://schemas.openxmlformats.org/drawingml/2006/main">
              <a:ext uri="{FF2B5EF4-FFF2-40B4-BE49-F238E27FC236}">
                <a16:creationId xmlns:a16="http://schemas.microsoft.com/office/drawing/2014/main" id="{732DC961-3F95-420D-AAC6-32AF681F5906}"/>
              </a:ext>
            </a:extLst>
          </p:cNvPr>
          <p:cNvSpPr>
            <a:spLocks xmlns:a="http://schemas.openxmlformats.org/drawingml/2006/main" noGrp="1"/>
          </p:cNvSpPr>
          <p:nvPr/>
        </p:nvSpPr>
        <p:spPr>
          <a:xfrm xmlns:a="http://schemas.openxmlformats.org/drawingml/2006/main">
            <a:off x="5048250" y="1743075"/>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1">
                <a:solidFill>
                  <a:srgbClr val="0F172A"/>
                </a:solidFill>
                <a:latin typeface="Microsoft YaHei"/>
                <a:ea typeface="Microsoft YaHei"/>
                <a:cs typeface="Microsoft YaHei"/>
              </a:defRPr>
            </a:pPr>
            <a:r>
              <a:rPr sz="1350" b="1">
                <a:solidFill>
                  <a:srgbClr val="0F172A"/>
                </a:solidFill>
                <a:latin typeface="Microsoft YaHei"/>
                <a:ea typeface="Microsoft YaHei"/>
                <a:cs typeface="Microsoft YaHei"/>
              </a:rPr>
              <a:t>3×3关系与双向效用</a:t>
            </a:r>
          </a:p>
        </p:txBody>
      </p:sp>
      <p:sp>
        <p:nvSpPr>
          <p:cNvPr id="24" name="stage-3-rule">
            <a:extLst xmlns:a="http://schemas.openxmlformats.org/drawingml/2006/main">
              <a:ext uri="{FF2B5EF4-FFF2-40B4-BE49-F238E27FC236}">
                <a16:creationId xmlns:a16="http://schemas.microsoft.com/office/drawing/2014/main" id="{E8DB3DF8-4DAE-4BC3-A39E-4EB4F4939871}"/>
              </a:ext>
            </a:extLst>
          </p:cNvPr>
          <p:cNvSpPr>
            <a:spLocks xmlns:a="http://schemas.openxmlformats.org/drawingml/2006/main" noGrp="1"/>
          </p:cNvSpPr>
          <p:nvPr/>
        </p:nvSpPr>
        <p:spPr>
          <a:xfrm xmlns:a="http://schemas.openxmlformats.org/drawingml/2006/main">
            <a:off x="4629150" y="2228850"/>
            <a:ext cx="24193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25" name="stage-3-body">
            <a:extLst xmlns:a="http://schemas.openxmlformats.org/drawingml/2006/main">
              <a:ext uri="{FF2B5EF4-FFF2-40B4-BE49-F238E27FC236}">
                <a16:creationId xmlns:a16="http://schemas.microsoft.com/office/drawing/2014/main" id="{5A267F40-D428-46F1-AD82-C75F18DCE200}"/>
              </a:ext>
            </a:extLst>
          </p:cNvPr>
          <p:cNvSpPr>
            <a:spLocks xmlns:a="http://schemas.openxmlformats.org/drawingml/2006/main" noGrp="1"/>
          </p:cNvSpPr>
          <p:nvPr/>
        </p:nvSpPr>
        <p:spPr>
          <a:xfrm xmlns:a="http://schemas.openxmlformats.org/drawingml/2006/main">
            <a:off x="4638675" y="2362200"/>
            <a:ext cx="240030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rmAutofit fontScale="100000"/>
          </a:bodyPr>
          <a:lstStyle xmlns:a="http://schemas.openxmlformats.org/drawingml/2006/main"/>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当前三模态 × 历史三模态 = 9类关系</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u⁺ = L(S) − L(S∪{hᵢ})</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u⁻ = L(T\{hᵢ}) − L(T)</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关键约束：T ≠ S∪{hᵢ}</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学习交互/不对称；监督仅来自 train OOF</a:t>
            </a:r>
          </a:p>
        </p:txBody>
      </p:sp>
      <p:sp>
        <p:nvSpPr>
          <p:cNvPr id="26" name="stage-4-card">
            <a:extLst xmlns:a="http://schemas.openxmlformats.org/drawingml/2006/main">
              <a:ext uri="{FF2B5EF4-FFF2-40B4-BE49-F238E27FC236}">
                <a16:creationId xmlns:a16="http://schemas.microsoft.com/office/drawing/2014/main" id="{D41996A4-9FA6-48EA-83BB-21A0334F299A}"/>
              </a:ext>
            </a:extLst>
          </p:cNvPr>
          <p:cNvSpPr>
            <a:spLocks xmlns:a="http://schemas.openxmlformats.org/drawingml/2006/main" noGrp="1"/>
          </p:cNvSpPr>
          <p:nvPr/>
        </p:nvSpPr>
        <p:spPr>
          <a:xfrm xmlns:a="http://schemas.openxmlformats.org/drawingml/2006/main">
            <a:off x="7315200" y="1562100"/>
            <a:ext cx="2019300" cy="3486150"/>
          </a:xfrm>
          <a:prstGeom xmlns:a="http://schemas.openxmlformats.org/drawingml/2006/main" prst="roundRect">
            <a:avLst>
              <a:gd name="adj" fmla="val 4717"/>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stage-4-accent">
            <a:extLst xmlns:a="http://schemas.openxmlformats.org/drawingml/2006/main">
              <a:ext uri="{FF2B5EF4-FFF2-40B4-BE49-F238E27FC236}">
                <a16:creationId xmlns:a16="http://schemas.microsoft.com/office/drawing/2014/main" id="{30A0A4D6-2A72-4FCB-B946-11A76DE0171C}"/>
              </a:ext>
            </a:extLst>
          </p:cNvPr>
          <p:cNvSpPr>
            <a:spLocks xmlns:a="http://schemas.openxmlformats.org/drawingml/2006/main" noGrp="1"/>
          </p:cNvSpPr>
          <p:nvPr/>
        </p:nvSpPr>
        <p:spPr>
          <a:xfrm xmlns:a="http://schemas.openxmlformats.org/drawingml/2006/main">
            <a:off x="7315200" y="1562100"/>
            <a:ext cx="2019300" cy="7620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28" name="stage-4-badge">
            <a:extLst xmlns:a="http://schemas.openxmlformats.org/drawingml/2006/main">
              <a:ext uri="{FF2B5EF4-FFF2-40B4-BE49-F238E27FC236}">
                <a16:creationId xmlns:a16="http://schemas.microsoft.com/office/drawing/2014/main" id="{6686A285-D891-485E-A4E4-925F0E160770}"/>
              </a:ext>
            </a:extLst>
          </p:cNvPr>
          <p:cNvSpPr>
            <a:spLocks xmlns:a="http://schemas.openxmlformats.org/drawingml/2006/main" noGrp="1"/>
          </p:cNvSpPr>
          <p:nvPr/>
        </p:nvSpPr>
        <p:spPr>
          <a:xfrm xmlns:a="http://schemas.openxmlformats.org/drawingml/2006/main">
            <a:off x="7448550" y="1771650"/>
            <a:ext cx="323850" cy="323850"/>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29" name="stage-4-title">
            <a:extLst xmlns:a="http://schemas.openxmlformats.org/drawingml/2006/main">
              <a:ext uri="{FF2B5EF4-FFF2-40B4-BE49-F238E27FC236}">
                <a16:creationId xmlns:a16="http://schemas.microsoft.com/office/drawing/2014/main" id="{59F9294B-5557-470C-AE51-46D33A8F71D5}"/>
              </a:ext>
            </a:extLst>
          </p:cNvPr>
          <p:cNvSpPr>
            <a:spLocks xmlns:a="http://schemas.openxmlformats.org/drawingml/2006/main" noGrp="1"/>
          </p:cNvSpPr>
          <p:nvPr/>
        </p:nvSpPr>
        <p:spPr>
          <a:xfrm xmlns:a="http://schemas.openxmlformats.org/drawingml/2006/main">
            <a:off x="7867650" y="1743075"/>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1">
                <a:solidFill>
                  <a:srgbClr val="0F172A"/>
                </a:solidFill>
                <a:latin typeface="Microsoft YaHei"/>
                <a:ea typeface="Microsoft YaHei"/>
                <a:cs typeface="Microsoft YaHei"/>
              </a:defRPr>
            </a:pPr>
            <a:r>
              <a:rPr sz="1350" b="1">
                <a:solidFill>
                  <a:srgbClr val="0F172A"/>
                </a:solidFill>
                <a:latin typeface="Microsoft YaHei"/>
                <a:ea typeface="Microsoft YaHei"/>
                <a:cs typeface="Microsoft YaHei"/>
              </a:rPr>
              <a:t>校准风险决策</a:t>
            </a:r>
          </a:p>
        </p:txBody>
      </p:sp>
      <p:sp>
        <p:nvSpPr>
          <p:cNvPr id="30" name="stage-4-rule">
            <a:extLst xmlns:a="http://schemas.openxmlformats.org/drawingml/2006/main">
              <a:ext uri="{FF2B5EF4-FFF2-40B4-BE49-F238E27FC236}">
                <a16:creationId xmlns:a16="http://schemas.microsoft.com/office/drawing/2014/main" id="{BBE85277-E6F3-4A96-92FB-51F946CDB941}"/>
              </a:ext>
            </a:extLst>
          </p:cNvPr>
          <p:cNvSpPr>
            <a:spLocks xmlns:a="http://schemas.openxmlformats.org/drawingml/2006/main" noGrp="1"/>
          </p:cNvSpPr>
          <p:nvPr/>
        </p:nvSpPr>
        <p:spPr>
          <a:xfrm xmlns:a="http://schemas.openxmlformats.org/drawingml/2006/main">
            <a:off x="7448550" y="2228850"/>
            <a:ext cx="175260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31" name="stage-4-body">
            <a:extLst xmlns:a="http://schemas.openxmlformats.org/drawingml/2006/main">
              <a:ext uri="{FF2B5EF4-FFF2-40B4-BE49-F238E27FC236}">
                <a16:creationId xmlns:a16="http://schemas.microsoft.com/office/drawing/2014/main" id="{A081890B-7322-49F3-B052-7443BAD6DC4E}"/>
              </a:ext>
            </a:extLst>
          </p:cNvPr>
          <p:cNvSpPr>
            <a:spLocks xmlns:a="http://schemas.openxmlformats.org/drawingml/2006/main" noGrp="1"/>
          </p:cNvSpPr>
          <p:nvPr/>
        </p:nvSpPr>
        <p:spPr>
          <a:xfrm xmlns:a="http://schemas.openxmlformats.org/drawingml/2006/main">
            <a:off x="7458075" y="2362200"/>
            <a:ext cx="173355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rmAutofit fontScale="100000"/>
          </a:bodyPr>
          <a:lstStyle xmlns:a="http://schemas.openxmlformats.org/drawingml/2006/main"/>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 q10 / q50 / q90 与 P(harm)</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 RCPS / conformal 校准</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 可逆逐项选择</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 风险超阈值 → current-only 回退</a:t>
            </a:r>
          </a:p>
        </p:txBody>
      </p:sp>
      <p:sp>
        <p:nvSpPr>
          <p:cNvPr id="32" name="stage-5-card">
            <a:extLst xmlns:a="http://schemas.openxmlformats.org/drawingml/2006/main">
              <a:ext uri="{FF2B5EF4-FFF2-40B4-BE49-F238E27FC236}">
                <a16:creationId xmlns:a16="http://schemas.microsoft.com/office/drawing/2014/main" id="{3097A067-CF0C-4ABB-BAE4-2DC7AC67C57B}"/>
              </a:ext>
            </a:extLst>
          </p:cNvPr>
          <p:cNvSpPr>
            <a:spLocks xmlns:a="http://schemas.openxmlformats.org/drawingml/2006/main" noGrp="1"/>
          </p:cNvSpPr>
          <p:nvPr/>
        </p:nvSpPr>
        <p:spPr>
          <a:xfrm xmlns:a="http://schemas.openxmlformats.org/drawingml/2006/main">
            <a:off x="9467850" y="1562100"/>
            <a:ext cx="2343150" cy="3486150"/>
          </a:xfrm>
          <a:prstGeom xmlns:a="http://schemas.openxmlformats.org/drawingml/2006/main" prst="roundRect">
            <a:avLst>
              <a:gd name="adj" fmla="val 4065"/>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stage-5-accent">
            <a:extLst xmlns:a="http://schemas.openxmlformats.org/drawingml/2006/main">
              <a:ext uri="{FF2B5EF4-FFF2-40B4-BE49-F238E27FC236}">
                <a16:creationId xmlns:a16="http://schemas.microsoft.com/office/drawing/2014/main" id="{C60A0A15-4E51-4794-8F7C-3F41ED40DE3D}"/>
              </a:ext>
            </a:extLst>
          </p:cNvPr>
          <p:cNvSpPr>
            <a:spLocks xmlns:a="http://schemas.openxmlformats.org/drawingml/2006/main" noGrp="1"/>
          </p:cNvSpPr>
          <p:nvPr/>
        </p:nvSpPr>
        <p:spPr>
          <a:xfrm xmlns:a="http://schemas.openxmlformats.org/drawingml/2006/main">
            <a:off x="9467850" y="1562100"/>
            <a:ext cx="2343150" cy="762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4" name="stage-5-badge">
            <a:extLst xmlns:a="http://schemas.openxmlformats.org/drawingml/2006/main">
              <a:ext uri="{FF2B5EF4-FFF2-40B4-BE49-F238E27FC236}">
                <a16:creationId xmlns:a16="http://schemas.microsoft.com/office/drawing/2014/main" id="{DA99B6C7-A044-4457-8101-A73DF177D68E}"/>
              </a:ext>
            </a:extLst>
          </p:cNvPr>
          <p:cNvSpPr>
            <a:spLocks xmlns:a="http://schemas.openxmlformats.org/drawingml/2006/main" noGrp="1"/>
          </p:cNvSpPr>
          <p:nvPr/>
        </p:nvSpPr>
        <p:spPr>
          <a:xfrm xmlns:a="http://schemas.openxmlformats.org/drawingml/2006/main">
            <a:off x="9601200" y="1771650"/>
            <a:ext cx="323850" cy="32385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5</a:t>
            </a:r>
          </a:p>
        </p:txBody>
      </p:sp>
      <p:sp>
        <p:nvSpPr>
          <p:cNvPr id="35" name="stage-5-title">
            <a:extLst xmlns:a="http://schemas.openxmlformats.org/drawingml/2006/main">
              <a:ext uri="{FF2B5EF4-FFF2-40B4-BE49-F238E27FC236}">
                <a16:creationId xmlns:a16="http://schemas.microsoft.com/office/drawing/2014/main" id="{0E1A2838-D937-4D87-9AC3-660717145432}"/>
              </a:ext>
            </a:extLst>
          </p:cNvPr>
          <p:cNvSpPr>
            <a:spLocks xmlns:a="http://schemas.openxmlformats.org/drawingml/2006/main" noGrp="1"/>
          </p:cNvSpPr>
          <p:nvPr/>
        </p:nvSpPr>
        <p:spPr>
          <a:xfrm xmlns:a="http://schemas.openxmlformats.org/drawingml/2006/main">
            <a:off x="10020300" y="1743075"/>
            <a:ext cx="1657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1350" b="1">
                <a:solidFill>
                  <a:srgbClr val="0F172A"/>
                </a:solidFill>
                <a:latin typeface="Microsoft YaHei"/>
                <a:ea typeface="Microsoft YaHei"/>
                <a:cs typeface="Microsoft YaHei"/>
              </a:defRPr>
            </a:pPr>
            <a:r>
              <a:rPr sz="1350" b="1">
                <a:solidFill>
                  <a:srgbClr val="0F172A"/>
                </a:solidFill>
                <a:latin typeface="Microsoft YaHei"/>
                <a:ea typeface="Microsoft YaHei"/>
                <a:cs typeface="Microsoft YaHei"/>
              </a:rPr>
              <a:t>评估、反证与决策</a:t>
            </a:r>
          </a:p>
        </p:txBody>
      </p:sp>
      <p:sp>
        <p:nvSpPr>
          <p:cNvPr id="36" name="stage-5-rule">
            <a:extLst xmlns:a="http://schemas.openxmlformats.org/drawingml/2006/main">
              <a:ext uri="{FF2B5EF4-FFF2-40B4-BE49-F238E27FC236}">
                <a16:creationId xmlns:a16="http://schemas.microsoft.com/office/drawing/2014/main" id="{CBE1BE7D-F38F-4852-85DD-E3D5183F5BB1}"/>
              </a:ext>
            </a:extLst>
          </p:cNvPr>
          <p:cNvSpPr>
            <a:spLocks xmlns:a="http://schemas.openxmlformats.org/drawingml/2006/main" noGrp="1"/>
          </p:cNvSpPr>
          <p:nvPr/>
        </p:nvSpPr>
        <p:spPr>
          <a:xfrm xmlns:a="http://schemas.openxmlformats.org/drawingml/2006/main">
            <a:off x="9601200" y="2228850"/>
            <a:ext cx="2076450" cy="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37" name="stage-5-body">
            <a:extLst xmlns:a="http://schemas.openxmlformats.org/drawingml/2006/main">
              <a:ext uri="{FF2B5EF4-FFF2-40B4-BE49-F238E27FC236}">
                <a16:creationId xmlns:a16="http://schemas.microsoft.com/office/drawing/2014/main" id="{132BB8AA-7362-499E-BA7C-0C341DBFE3D6}"/>
              </a:ext>
            </a:extLst>
          </p:cNvPr>
          <p:cNvSpPr>
            <a:spLocks xmlns:a="http://schemas.openxmlformats.org/drawingml/2006/main" noGrp="1"/>
          </p:cNvSpPr>
          <p:nvPr/>
        </p:nvSpPr>
        <p:spPr>
          <a:xfrm xmlns:a="http://schemas.openxmlformats.org/drawingml/2006/main">
            <a:off x="9610725" y="2362200"/>
            <a:ext cx="2057400" cy="2457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rmAutofit fontScale="100000"/>
          </a:bodyPr>
          <a:lstStyle xmlns:a="http://schemas.openxmlformats.org/drawingml/2006/main"/>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分类：Accuracy / Macro-F1 / weighted-F1</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安全：harm rate / p90 / CVaR / risk–coverage</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统计：5 seeds、cluster bootstrap、Holm</a:t>
            </a:r>
          </a:p>
          <a:p xmlns:a="http://schemas.openxmlformats.org/drawingml/2006/main">
            <a:r>
              <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GO：≥2数据集优于最强单向法且分类+安全双提升</a:t>
            </a:r>
          </a:p>
          <a:p xmlns:a="http://schemas.openxmlformats.org/drawingml/2006/main">
            <a:pPr algn="l">
              <a:lnSpc>
                <a:spcPct val="106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否则：发布 benchmark / 负结果</a:t>
            </a:r>
          </a:p>
        </p:txBody>
      </p:sp>
      <p:sp>
        <p:nvSpPr>
          <p:cNvPr id="38" name="completed-status-surface">
            <a:extLst xmlns:a="http://schemas.openxmlformats.org/drawingml/2006/main">
              <a:ext uri="{FF2B5EF4-FFF2-40B4-BE49-F238E27FC236}">
                <a16:creationId xmlns:a16="http://schemas.microsoft.com/office/drawing/2014/main" id="{38F01890-F9AD-41D7-9F77-1330A06E02A6}"/>
              </a:ext>
            </a:extLst>
          </p:cNvPr>
          <p:cNvSpPr>
            <a:spLocks xmlns:a="http://schemas.openxmlformats.org/drawingml/2006/main" noGrp="1"/>
          </p:cNvSpPr>
          <p:nvPr/>
        </p:nvSpPr>
        <p:spPr>
          <a:xfrm xmlns:a="http://schemas.openxmlformats.org/drawingml/2006/main">
            <a:off x="304800" y="5467350"/>
            <a:ext cx="3638550" cy="990600"/>
          </a:xfrm>
          <a:prstGeom xmlns:a="http://schemas.openxmlformats.org/drawingml/2006/main" prst="roundRect">
            <a:avLst>
              <a:gd name="adj" fmla="val 7692"/>
            </a:avLst>
          </a:prstGeom>
          <a:solidFill xmlns:a="http://schemas.openxmlformats.org/drawingml/2006/main">
            <a:srgbClr val="F8FAFC"/>
          </a:solidFill>
          <a:ln xmlns:a="http://schemas.openxmlformats.org/drawingml/2006/main" w="9525">
            <a:solidFill>
              <a:srgbClr val="CBD5E1"/>
            </a:solidFill>
            <a:prstDash val="solid"/>
          </a:ln>
        </p:spPr>
      </p:sp>
      <p:sp>
        <p:nvSpPr>
          <p:cNvPr id="39" name="completed-status-accent">
            <a:extLst xmlns:a="http://schemas.openxmlformats.org/drawingml/2006/main">
              <a:ext uri="{FF2B5EF4-FFF2-40B4-BE49-F238E27FC236}">
                <a16:creationId xmlns:a16="http://schemas.microsoft.com/office/drawing/2014/main" id="{1020783C-E16A-4309-870A-CF70A8E1A614}"/>
              </a:ext>
            </a:extLst>
          </p:cNvPr>
          <p:cNvSpPr>
            <a:spLocks xmlns:a="http://schemas.openxmlformats.org/drawingml/2006/main" noGrp="1"/>
          </p:cNvSpPr>
          <p:nvPr/>
        </p:nvSpPr>
        <p:spPr>
          <a:xfrm xmlns:a="http://schemas.openxmlformats.org/drawingml/2006/main">
            <a:off x="304800" y="5467350"/>
            <a:ext cx="66675" cy="9906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40" name="completed-status-title">
            <a:extLst xmlns:a="http://schemas.openxmlformats.org/drawingml/2006/main">
              <a:ext uri="{FF2B5EF4-FFF2-40B4-BE49-F238E27FC236}">
                <a16:creationId xmlns:a16="http://schemas.microsoft.com/office/drawing/2014/main" id="{24DF5E1C-8412-44F7-AC53-AF3150BEE922}"/>
              </a:ext>
            </a:extLst>
          </p:cNvPr>
          <p:cNvSpPr>
            <a:spLocks xmlns:a="http://schemas.openxmlformats.org/drawingml/2006/main" noGrp="1"/>
          </p:cNvSpPr>
          <p:nvPr/>
        </p:nvSpPr>
        <p:spPr>
          <a:xfrm xmlns:a="http://schemas.openxmlformats.org/drawingml/2006/main">
            <a:off x="476250" y="55721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a:solidFill>
                  <a:srgbClr val="15803D"/>
                </a:solidFill>
                <a:latin typeface="Microsoft YaHei"/>
                <a:ea typeface="Microsoft YaHei"/>
                <a:cs typeface="Microsoft YaHei"/>
              </a:defRPr>
            </a:pPr>
            <a:r>
              <a:rPr sz="1275" b="1">
                <a:solidFill>
                  <a:srgbClr val="15803D"/>
                </a:solidFill>
                <a:latin typeface="Microsoft YaHei"/>
                <a:ea typeface="Microsoft YaHei"/>
                <a:cs typeface="Microsoft YaHei"/>
              </a:rPr>
              <a:t>已完成｜问题存在性</a:t>
            </a:r>
          </a:p>
        </p:txBody>
      </p:sp>
      <p:sp>
        <p:nvSpPr>
          <p:cNvPr id="41" name="completed-status-body">
            <a:extLst xmlns:a="http://schemas.openxmlformats.org/drawingml/2006/main">
              <a:ext uri="{FF2B5EF4-FFF2-40B4-BE49-F238E27FC236}">
                <a16:creationId xmlns:a16="http://schemas.microsoft.com/office/drawing/2014/main" id="{309861FF-2E63-4394-9898-522A9EC2E518}"/>
              </a:ext>
            </a:extLst>
          </p:cNvPr>
          <p:cNvSpPr>
            <a:spLocks xmlns:a="http://schemas.openxmlformats.org/drawingml/2006/main" noGrp="1"/>
          </p:cNvSpPr>
          <p:nvPr/>
        </p:nvSpPr>
        <p:spPr>
          <a:xfrm xmlns:a="http://schemas.openxmlformats.org/drawingml/2006/main">
            <a:off x="476250" y="5848350"/>
            <a:ext cx="335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MELD / EmotionTalk 负迁移已复现</a:t>
            </a:r>
          </a:p>
          <a:p xmlns:a="http://schemas.openxmlformats.org/drawingml/2006/main">
            <a:pPr algn="l">
              <a:lnSpc>
                <a:spcPct val="100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历史伤害率约 43.27% / 33.9%</a:t>
            </a:r>
          </a:p>
        </p:txBody>
      </p:sp>
      <p:sp>
        <p:nvSpPr>
          <p:cNvPr id="42" name="failed-status-surface">
            <a:extLst xmlns:a="http://schemas.openxmlformats.org/drawingml/2006/main">
              <a:ext uri="{FF2B5EF4-FFF2-40B4-BE49-F238E27FC236}">
                <a16:creationId xmlns:a16="http://schemas.microsoft.com/office/drawing/2014/main" id="{9BC212F3-A4B7-4F61-A29E-125C4C5E09BC}"/>
              </a:ext>
            </a:extLst>
          </p:cNvPr>
          <p:cNvSpPr>
            <a:spLocks xmlns:a="http://schemas.openxmlformats.org/drawingml/2006/main" noGrp="1"/>
          </p:cNvSpPr>
          <p:nvPr/>
        </p:nvSpPr>
        <p:spPr>
          <a:xfrm xmlns:a="http://schemas.openxmlformats.org/drawingml/2006/main">
            <a:off x="4095750" y="5467350"/>
            <a:ext cx="3638550" cy="990600"/>
          </a:xfrm>
          <a:prstGeom xmlns:a="http://schemas.openxmlformats.org/drawingml/2006/main" prst="roundRect">
            <a:avLst>
              <a:gd name="adj" fmla="val 7692"/>
            </a:avLst>
          </a:prstGeom>
          <a:solidFill xmlns:a="http://schemas.openxmlformats.org/drawingml/2006/main">
            <a:srgbClr val="F8FAFC"/>
          </a:solidFill>
          <a:ln xmlns:a="http://schemas.openxmlformats.org/drawingml/2006/main" w="9525">
            <a:solidFill>
              <a:srgbClr val="CBD5E1"/>
            </a:solidFill>
            <a:prstDash val="solid"/>
          </a:ln>
        </p:spPr>
      </p:sp>
      <p:sp>
        <p:nvSpPr>
          <p:cNvPr id="43" name="failed-status-accent">
            <a:extLst xmlns:a="http://schemas.openxmlformats.org/drawingml/2006/main">
              <a:ext uri="{FF2B5EF4-FFF2-40B4-BE49-F238E27FC236}">
                <a16:creationId xmlns:a16="http://schemas.microsoft.com/office/drawing/2014/main" id="{325F64B4-2C0C-41D9-B334-948F7DC734C9}"/>
              </a:ext>
            </a:extLst>
          </p:cNvPr>
          <p:cNvSpPr>
            <a:spLocks xmlns:a="http://schemas.openxmlformats.org/drawingml/2006/main" noGrp="1"/>
          </p:cNvSpPr>
          <p:nvPr/>
        </p:nvSpPr>
        <p:spPr>
          <a:xfrm xmlns:a="http://schemas.openxmlformats.org/drawingml/2006/main">
            <a:off x="4095750" y="5467350"/>
            <a:ext cx="66675" cy="990600"/>
          </a:xfrm>
          <a:prstGeom xmlns:a="http://schemas.openxmlformats.org/drawingml/2006/main" prst="rect">
            <a:avLst/>
          </a:prstGeom>
          <a:solidFill xmlns:a="http://schemas.openxmlformats.org/drawingml/2006/main">
            <a:srgbClr val="B91C1C"/>
          </a:solidFill>
          <a:ln xmlns:a="http://schemas.openxmlformats.org/drawingml/2006/main" w="0">
            <a:solidFill>
              <a:srgbClr val="B91C1C"/>
            </a:solidFill>
            <a:prstDash val="solid"/>
          </a:ln>
        </p:spPr>
      </p:sp>
      <p:sp>
        <p:nvSpPr>
          <p:cNvPr id="44" name="failed-status-title">
            <a:extLst xmlns:a="http://schemas.openxmlformats.org/drawingml/2006/main">
              <a:ext uri="{FF2B5EF4-FFF2-40B4-BE49-F238E27FC236}">
                <a16:creationId xmlns:a16="http://schemas.microsoft.com/office/drawing/2014/main" id="{55C69EEE-14CF-463B-B66F-F2A9CDDF072A}"/>
              </a:ext>
            </a:extLst>
          </p:cNvPr>
          <p:cNvSpPr>
            <a:spLocks xmlns:a="http://schemas.openxmlformats.org/drawingml/2006/main" noGrp="1"/>
          </p:cNvSpPr>
          <p:nvPr/>
        </p:nvSpPr>
        <p:spPr>
          <a:xfrm xmlns:a="http://schemas.openxmlformats.org/drawingml/2006/main">
            <a:off x="4267200" y="55721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a:solidFill>
                  <a:srgbClr val="B91C1C"/>
                </a:solidFill>
                <a:latin typeface="Microsoft YaHei"/>
                <a:ea typeface="Microsoft YaHei"/>
                <a:cs typeface="Microsoft YaHei"/>
              </a:defRPr>
            </a:pPr>
            <a:r>
              <a:rPr sz="1275" b="1">
                <a:solidFill>
                  <a:srgbClr val="B91C1C"/>
                </a:solidFill>
                <a:latin typeface="Microsoft YaHei"/>
                <a:ea typeface="Microsoft YaHei"/>
                <a:cs typeface="Microsoft YaHei"/>
              </a:rPr>
              <a:t>已否证｜不能宣传成功</a:t>
            </a:r>
          </a:p>
        </p:txBody>
      </p:sp>
      <p:sp>
        <p:nvSpPr>
          <p:cNvPr id="45" name="failed-status-body">
            <a:extLst xmlns:a="http://schemas.openxmlformats.org/drawingml/2006/main">
              <a:ext uri="{FF2B5EF4-FFF2-40B4-BE49-F238E27FC236}">
                <a16:creationId xmlns:a16="http://schemas.microsoft.com/office/drawing/2014/main" id="{6B68E565-F177-48F0-8B61-C2C83E112289}"/>
              </a:ext>
            </a:extLst>
          </p:cNvPr>
          <p:cNvSpPr>
            <a:spLocks xmlns:a="http://schemas.openxmlformats.org/drawingml/2006/main" noGrp="1"/>
          </p:cNvSpPr>
          <p:nvPr/>
        </p:nvSpPr>
        <p:spPr>
          <a:xfrm xmlns:a="http://schemas.openxmlformats.org/drawingml/2006/main">
            <a:off x="4267200" y="5848350"/>
            <a:ext cx="335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聚合 q90 与端点 hurdle 未过门槛</a:t>
            </a:r>
          </a:p>
          <a:p xmlns:a="http://schemas.openxmlformats.org/drawingml/2006/main">
            <a:pPr algn="l">
              <a:lnSpc>
                <a:spcPct val="100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无损缓存未完成；诊断结果不作确认性证据</a:t>
            </a:r>
          </a:p>
        </p:txBody>
      </p:sp>
      <p:sp>
        <p:nvSpPr>
          <p:cNvPr id="46" name="next-status-surface">
            <a:extLst xmlns:a="http://schemas.openxmlformats.org/drawingml/2006/main">
              <a:ext uri="{FF2B5EF4-FFF2-40B4-BE49-F238E27FC236}">
                <a16:creationId xmlns:a16="http://schemas.microsoft.com/office/drawing/2014/main" id="{0F7B135D-2F14-44DF-BBCF-D5342AEA26E6}"/>
              </a:ext>
            </a:extLst>
          </p:cNvPr>
          <p:cNvSpPr>
            <a:spLocks xmlns:a="http://schemas.openxmlformats.org/drawingml/2006/main" noGrp="1"/>
          </p:cNvSpPr>
          <p:nvPr/>
        </p:nvSpPr>
        <p:spPr>
          <a:xfrm xmlns:a="http://schemas.openxmlformats.org/drawingml/2006/main">
            <a:off x="7886700" y="5467350"/>
            <a:ext cx="3924300" cy="990600"/>
          </a:xfrm>
          <a:prstGeom xmlns:a="http://schemas.openxmlformats.org/drawingml/2006/main" prst="roundRect">
            <a:avLst>
              <a:gd name="adj" fmla="val 7692"/>
            </a:avLst>
          </a:prstGeom>
          <a:solidFill xmlns:a="http://schemas.openxmlformats.org/drawingml/2006/main">
            <a:srgbClr val="F8FAFC"/>
          </a:solidFill>
          <a:ln xmlns:a="http://schemas.openxmlformats.org/drawingml/2006/main" w="9525">
            <a:solidFill>
              <a:srgbClr val="CBD5E1"/>
            </a:solidFill>
            <a:prstDash val="solid"/>
          </a:ln>
        </p:spPr>
      </p:sp>
      <p:sp>
        <p:nvSpPr>
          <p:cNvPr id="47" name="next-status-accent">
            <a:extLst xmlns:a="http://schemas.openxmlformats.org/drawingml/2006/main">
              <a:ext uri="{FF2B5EF4-FFF2-40B4-BE49-F238E27FC236}">
                <a16:creationId xmlns:a16="http://schemas.microsoft.com/office/drawing/2014/main" id="{E6AFE3CA-1BD1-46E0-BE69-EF3E3F64242A}"/>
              </a:ext>
            </a:extLst>
          </p:cNvPr>
          <p:cNvSpPr>
            <a:spLocks xmlns:a="http://schemas.openxmlformats.org/drawingml/2006/main" noGrp="1"/>
          </p:cNvSpPr>
          <p:nvPr/>
        </p:nvSpPr>
        <p:spPr>
          <a:xfrm xmlns:a="http://schemas.openxmlformats.org/drawingml/2006/main">
            <a:off x="7886700" y="5467350"/>
            <a:ext cx="66675" cy="990600"/>
          </a:xfrm>
          <a:prstGeom xmlns:a="http://schemas.openxmlformats.org/drawingml/2006/main" prst="rect">
            <a:avLst/>
          </a:prstGeom>
          <a:solidFill xmlns:a="http://schemas.openxmlformats.org/drawingml/2006/main">
            <a:srgbClr val="0F766E"/>
          </a:solidFill>
          <a:ln xmlns:a="http://schemas.openxmlformats.org/drawingml/2006/main" w="0">
            <a:solidFill>
              <a:srgbClr val="0F766E"/>
            </a:solidFill>
            <a:prstDash val="solid"/>
          </a:ln>
        </p:spPr>
      </p:sp>
      <p:sp>
        <p:nvSpPr>
          <p:cNvPr id="48" name="next-status-title">
            <a:extLst xmlns:a="http://schemas.openxmlformats.org/drawingml/2006/main">
              <a:ext uri="{FF2B5EF4-FFF2-40B4-BE49-F238E27FC236}">
                <a16:creationId xmlns:a16="http://schemas.microsoft.com/office/drawing/2014/main" id="{F3589041-A918-4B08-B0CD-1F88F58F285D}"/>
              </a:ext>
            </a:extLst>
          </p:cNvPr>
          <p:cNvSpPr>
            <a:spLocks xmlns:a="http://schemas.openxmlformats.org/drawingml/2006/main" noGrp="1"/>
          </p:cNvSpPr>
          <p:nvPr/>
        </p:nvSpPr>
        <p:spPr>
          <a:xfrm xmlns:a="http://schemas.openxmlformats.org/drawingml/2006/main">
            <a:off x="8058150" y="5572125"/>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a:solidFill>
                  <a:srgbClr val="0F766E"/>
                </a:solidFill>
                <a:latin typeface="Microsoft YaHei"/>
                <a:ea typeface="Microsoft YaHei"/>
                <a:cs typeface="Microsoft YaHei"/>
              </a:defRPr>
            </a:pPr>
            <a:r>
              <a:rPr sz="1275" b="1">
                <a:solidFill>
                  <a:srgbClr val="0F766E"/>
                </a:solidFill>
                <a:latin typeface="Microsoft YaHei"/>
                <a:ea typeface="Microsoft YaHei"/>
                <a:cs typeface="Microsoft YaHei"/>
              </a:rPr>
              <a:t>下一关键实验｜非平凡方法</a:t>
            </a:r>
          </a:p>
        </p:txBody>
      </p:sp>
      <p:sp>
        <p:nvSpPr>
          <p:cNvPr id="49" name="next-status-body">
            <a:extLst xmlns:a="http://schemas.openxmlformats.org/drawingml/2006/main">
              <a:ext uri="{FF2B5EF4-FFF2-40B4-BE49-F238E27FC236}">
                <a16:creationId xmlns:a16="http://schemas.microsoft.com/office/drawing/2014/main" id="{E9CB5F26-B8A7-4B83-A2B5-F6A5BBCD823D}"/>
              </a:ext>
            </a:extLst>
          </p:cNvPr>
          <p:cNvSpPr>
            <a:spLocks xmlns:a="http://schemas.openxmlformats.org/drawingml/2006/main" noGrp="1"/>
          </p:cNvSpPr>
          <p:nvPr/>
        </p:nvSpPr>
        <p:spPr>
          <a:xfrm xmlns:a="http://schemas.openxmlformats.org/drawingml/2006/main">
            <a:off x="8058150" y="5848350"/>
            <a:ext cx="3638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双向子集效用 + 情感约束 + 3×3关系</a:t>
            </a:r>
          </a:p>
          <a:p xmlns:a="http://schemas.openxmlformats.org/drawingml/2006/main">
            <a:pPr algn="l">
              <a:lnSpc>
                <a:spcPct val="100000"/>
              </a:lnSpc>
              <a:buNone/>
              <a:defRPr sz="1200" b="0">
                <a:solidFill>
                  <a:srgbClr val="334155"/>
                </a:solidFill>
                <a:latin typeface="Microsoft YaHei"/>
                <a:ea typeface="Microsoft YaHei"/>
                <a:cs typeface="Microsoft YaHei"/>
              </a:defRPr>
            </a:pPr>
            <a:r>
              <a:rPr sz="1200" b="0">
                <a:solidFill>
                  <a:srgbClr val="334155"/>
                </a:solidFill>
                <a:latin typeface="Microsoft YaHei"/>
                <a:ea typeface="Microsoft YaHei"/>
                <a:cs typeface="Microsoft YaHei"/>
              </a:rPr>
              <a:t>先过 train-only GO 门槛，再触碰封存测试集</a:t>
            </a:r>
          </a:p>
        </p:txBody>
      </p:sp>
    </p:spTree>
    <p:extLst>
      <p:ext uri="{BB962C8B-B14F-4D97-AF65-F5344CB8AC3E}">
        <p14:creationId xmlns:p14="http://schemas.microsoft.com/office/powerpoint/2010/main" val="4581585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2026-08-08T02:25:56.9360000Z</dcterms:created>
  <dcterms:modified xsi:type="dcterms:W3CDTF">2026-08-08T02:25:56.9360000Z</dcterms:modified>
</coreProperties>
</file>