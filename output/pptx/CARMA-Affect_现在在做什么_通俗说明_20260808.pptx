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3b255bcbaac4eab" /><Relationship Type="http://schemas.openxmlformats.org/officeDocument/2006/relationships/extended-properties" Target="/docProps/app.xml" Id="Rc6c0d907db924467" /><Relationship Type="http://schemas.openxmlformats.org/officeDocument/2006/relationships/officeDocument" Target="/ppt/presentation.xml" Id="Rd8f3e37ddd4145a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b950682f7164c91"/>
  </p:sldMasterIdLst>
  <p:notesMasterIdLst>
    <p:notesMasterId xmlns:r="http://schemas.openxmlformats.org/officeDocument/2006/relationships" r:id="Rb84364f6fdc84ad4"/>
  </p:notesMasterIdLst>
  <p:sldIdLst>
    <p:sldId xmlns:r="http://schemas.openxmlformats.org/officeDocument/2006/relationships" id="256" r:id="R24406f32daa244de"/>
    <p:sldId xmlns:r="http://schemas.openxmlformats.org/officeDocument/2006/relationships" id="257" r:id="R9f2900e55f434f17"/>
    <p:sldId xmlns:r="http://schemas.openxmlformats.org/officeDocument/2006/relationships" id="258" r:id="Ra15e2a5b053e48bc"/>
    <p:sldId xmlns:r="http://schemas.openxmlformats.org/officeDocument/2006/relationships" id="259" r:id="R1a6c9a09396549c4"/>
    <p:sldId xmlns:r="http://schemas.openxmlformats.org/officeDocument/2006/relationships" id="260" r:id="Re4d805a06b564f72"/>
    <p:sldId xmlns:r="http://schemas.openxmlformats.org/officeDocument/2006/relationships" id="261" r:id="R7c1c2ba56a454f2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640de4c68254570" /><Relationship Type="http://schemas.openxmlformats.org/officeDocument/2006/relationships/slideMaster" Target="/ppt/slideMasters/slideMaster1.xml" Id="R2b950682f7164c91" /><Relationship Type="http://schemas.openxmlformats.org/officeDocument/2006/relationships/notesMaster" Target="/ppt/notesMasters/notesMaster1.xml" Id="Rb84364f6fdc84ad4" /><Relationship Type="http://schemas.openxmlformats.org/officeDocument/2006/relationships/presProps" Target="/ppt/presProps.xml" Id="Rcd1d070825c14c8b" /><Relationship Type="http://schemas.openxmlformats.org/officeDocument/2006/relationships/tableStyles" Target="/ppt/tableStyles.xml" Id="Rfbb24a33a8134362" /><Relationship Type="http://schemas.openxmlformats.org/officeDocument/2006/relationships/slide" Target="/ppt/slides/slide1.xml" Id="R24406f32daa244de" /><Relationship Type="http://schemas.openxmlformats.org/officeDocument/2006/relationships/slide" Target="/ppt/slides/slide2.xml" Id="R9f2900e55f434f17" /><Relationship Type="http://schemas.openxmlformats.org/officeDocument/2006/relationships/slide" Target="/ppt/slides/slide3.xml" Id="Ra15e2a5b053e48bc" /><Relationship Type="http://schemas.openxmlformats.org/officeDocument/2006/relationships/slide" Target="/ppt/slides/slide4.xml" Id="R1a6c9a09396549c4" /><Relationship Type="http://schemas.openxmlformats.org/officeDocument/2006/relationships/slide" Target="/ppt/slides/slide5.xml" Id="Re4d805a06b564f72" /><Relationship Type="http://schemas.openxmlformats.org/officeDocument/2006/relationships/slide" Target="/ppt/slides/slide6.xml" Id="R7c1c2ba56a454f2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0c5d31ff9f842a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190e9f85ecc4529" /><Relationship Type="http://schemas.openxmlformats.org/officeDocument/2006/relationships/notesMaster" Target="/ppt/notesMasters/notesMaster1.xml" Id="R40c29bdb6976427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65ac65eaa21477f" /><Relationship Type="http://schemas.openxmlformats.org/officeDocument/2006/relationships/notesMaster" Target="/ppt/notesMasters/notesMaster1.xml" Id="Ra3e69c6d60a5457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91ed3681bbe4f56" /><Relationship Type="http://schemas.openxmlformats.org/officeDocument/2006/relationships/notesMaster" Target="/ppt/notesMasters/notesMaster1.xml" Id="Re9d84ea64c9643d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7473b5a3d4e4d6d" /><Relationship Type="http://schemas.openxmlformats.org/officeDocument/2006/relationships/notesMaster" Target="/ppt/notesMasters/notesMaster1.xml" Id="Rabb7090c2de34d1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1a49ee25281454a" /><Relationship Type="http://schemas.openxmlformats.org/officeDocument/2006/relationships/notesMaster" Target="/ppt/notesMasters/notesMaster1.xml" Id="Raf4eb62d863341a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0f588932e5b463f" /><Relationship Type="http://schemas.openxmlformats.org/officeDocument/2006/relationships/notesMaster" Target="/ppt/notesMasters/notesMaster1.xml" Id="R21026858c7e54cf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这一页先把研究目标说简单：我们不是追求历史越多越好，而是要学会安全地选择历史。</a:t>
            </a:r>
          </a:p>
          <a:p xmlns:a="http://schemas.openxmlformats.org/drawingml/2006/main">
            <a:r>
              <a:t>整套方法围绕三个动作展开：理解当前情感、判断每条历史的作用、风险高时回退。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research contract: docs/10_教师三点整合后的科研全流程_2026-08-08.md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这张图只看三栏：左栏是测试时怎么用历史；中栏是训练时怎么学双向效用；右栏是实验怎么判定成功。</a:t>
            </a:r>
          </a:p>
          <a:p xmlns:a="http://schemas.openxmlformats.org/drawingml/2006/main">
            <a:r>
              <a:t>底部状态条把已经完成、已经失败和下一步分开，避免把研究计划误写成实验结果。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visual reference: C:/Users/Lenovo/AppData/Local/Temp/codex-clipboard-979ba011-08b8-40e2-badd-e456c8432677.png</a:t>
            </a:r>
          </a:p>
          <a:p xmlns:a="http://schemas.openxmlformats.org/drawingml/2006/main">
            <a:r>
              <a:t>- Image2-generated project asset: assets/carma_affect_image2_workflow_20260808.png</a:t>
            </a:r>
          </a:p>
          <a:p xmlns:a="http://schemas.openxmlformats.org/drawingml/2006/main">
            <a:r>
              <a:t>- Internal protocol: experiment/configs/bidirectional_emotion_utility_v1.json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以前容易把所有内容一起送进多模态模型。现在我们先明确区分当前和历史，共六条流。</a:t>
            </a:r>
          </a:p>
          <a:p xmlns:a="http://schemas.openxmlformats.org/drawingml/2006/main">
            <a:r>
              <a:t>这样做是为了回答更具体的问题：某一条历史在当前状态下究竟是帮助还是干扰。</a:t>
            </a:r>
          </a:p>
          <a:p xmlns:a="http://schemas.openxmlformats.org/drawingml/2006/main">
            <a:r>
              <a:t>情感理论、VAD、情感转移和领域编码器会作为这六条流的额外信息，而不是用历史金标签作弊。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method contract: docs/10_教师三点整合后的科研全流程_2026-08-08.md</a:t>
            </a:r>
          </a:p>
          <a:p xmlns:a="http://schemas.openxmlformats.org/drawingml/2006/main">
            <a:r>
              <a:t>- emotion2vec: https://doi.org/10.18653/v1/2024.findings-acl.931</a:t>
            </a:r>
          </a:p>
          <a:p xmlns:a="http://schemas.openxmlformats.org/drawingml/2006/main">
            <a:r>
              <a:t>- EmoBERTa: https://arxiv.org/abs/2108.12009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可以把它理解成球员阵容：一方面看把球员加入阵容有没有帮助，另一方面看从另一套阵容删掉他会不会变差。</a:t>
            </a:r>
          </a:p>
          <a:p xmlns:a="http://schemas.openxmlformats.org/drawingml/2006/main">
            <a:r>
              <a:t>如果加入和删除使用的是完全同一个集合，两次计算会代数相等，就没有真正的新信息。</a:t>
            </a:r>
          </a:p>
          <a:p xmlns:a="http://schemas.openxmlformats.org/drawingml/2006/main">
            <a:r>
              <a:t>因此代码会直接拒绝退化任务，并进一步学习两个方向的不对称和风险分布。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Implementation: experiment/src/hva_affect/bidirectional_emotion_utility.py</a:t>
            </a:r>
          </a:p>
          <a:p xmlns:a="http://schemas.openxmlformats.org/drawingml/2006/main">
            <a:r>
              <a:t>- Contract tests: experiment/tests/test_bidirectional_emotion_utility.py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老师要求情感任务必须有效，所以我们把分类指标设为硬门，而不是只做风险分析。</a:t>
            </a:r>
          </a:p>
          <a:p xmlns:a="http://schemas.openxmlformats.org/drawingml/2006/main">
            <a:r>
              <a:t>同时也不能只看准确率，因为平均更准不代表每个查询都更安全。</a:t>
            </a:r>
          </a:p>
          <a:p xmlns:a="http://schemas.openxmlformats.org/drawingml/2006/main">
            <a:r>
              <a:t>确认性成功要求至少两个数据集上，分类和安全同时改善，并优于最强单向基线。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Frozen evaluation contract: experiment/configs/bidirectional_emotion_utility_v1.json</a:t>
            </a:r>
          </a:p>
          <a:p xmlns:a="http://schemas.openxmlformats.org/drawingml/2006/main">
            <a:r>
              <a:t>- Negative-transfer benchmark: docs/08_双数据集负迁移Benchmark探索报告_2026-08-07.md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这一页是最重要的边界：当前完成的是问题证据、研究合同和方法实现准备，不是最终方法效果。</a:t>
            </a:r>
          </a:p>
          <a:p xmlns:a="http://schemas.openxmlformats.org/drawingml/2006/main">
            <a:r>
              <a:t>下一步必须重新生成四组不同集合概率 P(S)、P(S+h_i)、P(T)、P(T-h_i)，再做真实训练集实验。</a:t>
            </a:r>
          </a:p>
          <a:p xmlns:a="http://schemas.openxmlformats.org/drawingml/2006/main">
            <a:r>
              <a:t>calibration、internal holdout 和 external test 仍然封存，不能用来反复调参。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Readiness record: results/bidirectional_emotion_utility_v1_readiness.json</a:t>
            </a:r>
          </a:p>
          <a:p xmlns:a="http://schemas.openxmlformats.org/drawingml/2006/main">
            <a:r>
              <a:t>- Current status: docs/06_当前进度与下一步.md</a:t>
            </a:r>
          </a:p>
          <a:p xmlns:a="http://schemas.openxmlformats.org/drawingml/2006/main">
            <a:r>
              <a:t>- Endpoint diagnostic: docs/09_EmotionTalk端点效用诊断与两部式修复决策_2026-08-07.md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0e1ba39c28b490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d97ae4892e640fd" /><Relationship Type="http://schemas.openxmlformats.org/officeDocument/2006/relationships/slideLayout" Target="/ppt/slideLayouts/slideLayout1.xml" Id="Rebca487cd28c4af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bca487cd28c4af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497afd88714cb4" /><Relationship Type="http://schemas.openxmlformats.org/officeDocument/2006/relationships/notesSlide" Target="/ppt/notesSlides/notesSlide1.xml" Id="R6b6871fb0aa44b2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e6f1c0198141b7" /><Relationship Type="http://schemas.openxmlformats.org/officeDocument/2006/relationships/image" Target="/ppt/media/image.png" Id="Rb9f84c0fc22942df" /><Relationship Type="http://schemas.openxmlformats.org/officeDocument/2006/relationships/notesSlide" Target="/ppt/notesSlides/notesSlide2.xml" Id="R48ecba3a573a451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a9c03ee74d4648" /><Relationship Type="http://schemas.openxmlformats.org/officeDocument/2006/relationships/notesSlide" Target="/ppt/notesSlides/notesSlide3.xml" Id="R6517f6d95cc14de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74d8f4307849a0" /><Relationship Type="http://schemas.openxmlformats.org/officeDocument/2006/relationships/notesSlide" Target="/ppt/notesSlides/notesSlide4.xml" Id="Rd5357703a912412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aa867612704efe" /><Relationship Type="http://schemas.openxmlformats.org/officeDocument/2006/relationships/notesSlide" Target="/ppt/notesSlides/notesSlide5.xml" Id="R13034c03b16d4f3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852cadeabf4f32" /><Relationship Type="http://schemas.openxmlformats.org/officeDocument/2006/relationships/notesSlide" Target="/ppt/notesSlides/notesSlide6.xml" Id="R135ce0145c1b4221" /></Relationships>
</file>

<file path=ppt/slides/slide1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FFFFFF"/>
            </a:gs>
            <a:gs pos="58000">
              <a:srgbClr val="F8FAFC"/>
            </a:gs>
            <a:gs pos="100000">
              <a:srgbClr val="EFF6FF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0E64A83-8BFA-497F-9A1C-EB1D5BE64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solidFill>
              <a:srgbClr val="1D4ED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EA4566-364B-4427-9C2A-DF91A8D86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7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CARMA-AFFECT · 方法重构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C05906-5B5E-4497-AACB-2864B9D8B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28750"/>
            <a:ext cx="8763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43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现在我们在做什么？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1A6687-97B4-45A9-AFB8-78966F550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71750"/>
            <a:ext cx="85725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不是让模型盲目使用更多历史，而是教它判断：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1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哪段历史值得用，哪段应该放弃。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D31C71-4F9C-4FB4-B3B5-4B9478710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476750"/>
            <a:ext cx="552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152F44-E1FD-4A0A-AA24-343EB6680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9530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7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看懂当前状态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42E905-3ADA-4DBE-90B7-3CCDF0A93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391150"/>
            <a:ext cx="2571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solidFill>
              <a:srgbClr val="1D4ED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4BA4E9-A70F-4461-8D5D-2033F75EC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476750"/>
            <a:ext cx="552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1">
                <a:solidFill>
                  <a:srgbClr val="7C3A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7C3AED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378E51-D6B6-4582-9A6C-F6A8EF705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9530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7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比较历史效用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B4D09F-F8B1-4D42-9833-C201AD171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391150"/>
            <a:ext cx="2571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7C3AE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0231BD5-7B43-41C4-993B-6040C2695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4476750"/>
            <a:ext cx="552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1">
                <a:solidFill>
                  <a:srgbClr val="0E74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E7490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BD63D60-D149-4EB0-AC75-5607BCA4A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49530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7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风险过高就回退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A6EF36C-63D2-48A5-8DE0-A7807D005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5391150"/>
            <a:ext cx="2571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490"/>
          </a:solidFill>
          <a:ln xmlns:a="http://schemas.openxmlformats.org/drawingml/2006/main" w="0">
            <a:solidFill>
              <a:srgbClr val="0E749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76FE497-478D-4AE0-BE79-9AB06487D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341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975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CARMA-Affect · 研究进度说明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9CEE83A-AEC8-43BC-99E1-413E7FCFC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51510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975" b="1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14149414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9f84c0fc22942df"/>
          <a:stretch xmlns:a="http://schemas.openxmlformats.org/drawingml/2006/main"/>
        </p:blipFill>
        <p:spPr>
          <a:xfrm xmlns:a="http://schemas.openxmlformats.org/drawingml/2006/main">
            <a:off x="1209675" y="95250"/>
            <a:ext cx="9772650" cy="65151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553669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8FA892E-7DDD-45A2-9945-CBDB7757D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12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第一处改动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F64E45-5FB4-4FC1-9E7C-F77F8132A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0960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30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把“当前”和“历史”拆成六条情感信息流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038E26-4502-4727-99D1-3059C10BC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3825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9A031B-AED9-41F6-9021-7F00653E2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4381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55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当前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96A05E-228F-4A46-AAE0-281D30E2A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38375"/>
            <a:ext cx="438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模型此刻要判断的内容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5BD7BC-0B83-465D-B4E4-8D49E25A5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14650"/>
            <a:ext cx="400050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22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文本 T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22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音频 A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22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视频 V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6003DC-E2EB-4A80-9531-0035BF8E7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676400"/>
            <a:ext cx="19050" cy="3105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E2E8F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848E9F-B025-4337-B42D-6BA89AE0C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752600"/>
            <a:ext cx="4381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550" b="1">
                <a:solidFill>
                  <a:srgbClr val="7C3A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7C3AED"/>
                </a:solidFill>
                <a:latin typeface="Microsoft YaHei"/>
                <a:ea typeface="Microsoft YaHei"/>
                <a:cs typeface="Microsoft YaHei"/>
              </a:rPr>
              <a:t>历史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7B3474-6348-4928-9B46-A8551DB70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238375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同一个人在当前时刻之前的内容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73C3AD-4578-4DCA-B2A1-34F99FA73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914650"/>
            <a:ext cx="428625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22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文本历史 Tₕ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22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音频历史 Aₕ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22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视频历史 Vₕ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30404A-E70B-44E4-B4FC-B28B558D4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197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725" b="1">
                <a:solidFill>
                  <a:srgbClr val="0E74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E7490"/>
                </a:solidFill>
                <a:latin typeface="Microsoft YaHei"/>
                <a:ea typeface="Microsoft YaHei"/>
                <a:cs typeface="Microsoft YaHei"/>
              </a:rPr>
              <a:t>为什么要拆开？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BF7E2BA-BD03-4461-942A-5E6915CA6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19750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8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同一段历史，在不同当前状态下可能有帮助，也可能误导。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324A8ED-287D-407A-A5A7-912C98F7B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341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975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CARMA-Affect · 研究进度说明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7C43F97-5DE4-4037-BFD7-8FCDF3033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51510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975" b="1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48826778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7B23338-C431-447B-BFC7-3190851FA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125" b="1">
                <a:solidFill>
                  <a:srgbClr val="7C3A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7C3AED"/>
                </a:solidFill>
                <a:latin typeface="Microsoft YaHei"/>
                <a:ea typeface="Microsoft YaHei"/>
                <a:cs typeface="Microsoft YaHei"/>
              </a:rPr>
              <a:t>第二处改动 · 核心方法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B961CD-FC5F-4168-81B9-42E027AB2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0960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30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同一段历史，要从两个方向检查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7F714E-86FD-4C0A-8C52-68E02EFBA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3825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B3A3CE-1966-4146-B73F-BED74124C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657350"/>
            <a:ext cx="5143500" cy="3143250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BFDBF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D24321-FA57-4E01-94F2-E5E2AAB5A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43100"/>
            <a:ext cx="228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25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前向加入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74B109-74EE-4A5C-84C2-693CCD044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33650"/>
            <a:ext cx="4286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把候选历史 hᵢ 加入集合 S，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7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看预测损失有没有下降。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821450-F814-428B-89E9-27E6B413D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19500"/>
            <a:ext cx="4381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100" b="1">
                <a:solidFill>
                  <a:srgbClr val="0F172A"/>
                </a:solidFill>
                <a:latin typeface="Cambria Math"/>
                <a:ea typeface="Cambria Math"/>
                <a:cs typeface="Cambria Math"/>
              </a:defRPr>
            </a:pPr>
            <a:r>
              <a:rPr sz="2100" b="1">
                <a:solidFill>
                  <a:srgbClr val="0F172A"/>
                </a:solidFill>
                <a:latin typeface="Cambria Math"/>
                <a:ea typeface="Cambria Math"/>
                <a:cs typeface="Cambria Math"/>
              </a:rPr>
              <a:t>u⁺ = L(S) − L(S∪{hᵢ})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BB967E-9433-459A-A9E3-2CBE24509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657350"/>
            <a:ext cx="5143500" cy="3143250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F5F3FF"/>
          </a:solidFill>
          <a:ln xmlns:a="http://schemas.openxmlformats.org/drawingml/2006/main" w="9525">
            <a:solidFill>
              <a:srgbClr val="DDD6F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DAF8CD-1B28-429D-AE03-BE64E7405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1943100"/>
            <a:ext cx="228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250" b="1">
                <a:solidFill>
                  <a:srgbClr val="7C3A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7C3AED"/>
                </a:solidFill>
                <a:latin typeface="Microsoft YaHei"/>
                <a:ea typeface="Microsoft YaHei"/>
                <a:cs typeface="Microsoft YaHei"/>
              </a:rPr>
              <a:t>后向删除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8B5F04-4D10-44C2-AB27-33AB2E2C0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533650"/>
            <a:ext cx="4286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从另一个集合 T 中删掉 hᵢ，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7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看预测损失会不会上升。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63A551B-D41E-400B-9999-93A5925E1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619500"/>
            <a:ext cx="4286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100" b="1">
                <a:solidFill>
                  <a:srgbClr val="0F172A"/>
                </a:solidFill>
                <a:latin typeface="Cambria Math"/>
                <a:ea typeface="Cambria Math"/>
                <a:cs typeface="Cambria Math"/>
              </a:defRPr>
            </a:pPr>
            <a:r>
              <a:rPr sz="2100" b="1">
                <a:solidFill>
                  <a:srgbClr val="0F172A"/>
                </a:solidFill>
                <a:latin typeface="Cambria Math"/>
                <a:ea typeface="Cambria Math"/>
                <a:cs typeface="Cambria Math"/>
              </a:rPr>
              <a:t>u⁻ = L(T\{hᵢ}) − L(T)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7449A71-338A-4AAF-9B04-9C14BC9CE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219700"/>
            <a:ext cx="942975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EF2F2"/>
          </a:solidFill>
          <a:ln xmlns:a="http://schemas.openxmlformats.org/drawingml/2006/main" w="9525">
            <a:solidFill>
              <a:srgbClr val="FCA5A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FEB89A2-CE63-4779-B84D-4F25ED586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5372100"/>
            <a:ext cx="885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725" b="1">
                <a:solidFill>
                  <a:srgbClr val="DC26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DC2626"/>
                </a:solidFill>
                <a:latin typeface="Microsoft YaHei"/>
                <a:ea typeface="Microsoft YaHei"/>
                <a:cs typeface="Microsoft YaHei"/>
              </a:rPr>
              <a:t>关键：T ≠ S∪{hᵢ}。否则两个方向其实是同一个计算，不能算真正的双向创新。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8A5B1C9-A7C4-4922-A0DC-4952A7906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341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975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CARMA-Affect · 研究进度说明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CC924D1-A875-4321-83C0-D5BB63FB9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51510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975" b="1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33072682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D789E0C-540D-4ED4-B2CD-D2443D364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125" b="1">
                <a:solidFill>
                  <a:srgbClr val="67E8F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67E8F9"/>
                </a:solidFill>
                <a:latin typeface="Microsoft YaHei"/>
                <a:ea typeface="Microsoft YaHei"/>
                <a:cs typeface="Microsoft YaHei"/>
              </a:rPr>
              <a:t>第三处改动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26D9DF-B0B1-419E-8AD9-8961B6237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0960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3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准确率提高还不够，安全性也必须提高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1EBC4E-FE4E-431F-A01D-A408CA5AF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3825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023F30-088B-495D-9824-9FAEE1A21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47850"/>
            <a:ext cx="314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分类门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128AC4-8E8F-477C-953F-6262525F4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76500"/>
            <a:ext cx="419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650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rPr>
              <a:t>回答：情感判断准不准？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D7395D-8134-4B65-8097-07286EAC9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19450"/>
            <a:ext cx="3810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2325" b="1">
                <a:solidFill>
                  <a:srgbClr val="93C5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93C5FD"/>
                </a:solidFill>
                <a:latin typeface="Microsoft YaHei"/>
                <a:ea typeface="Microsoft YaHei"/>
                <a:cs typeface="Microsoft YaHei"/>
              </a:rPr>
              <a:t>Macro-F1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2325" b="1">
                <a:solidFill>
                  <a:srgbClr val="93C5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93C5FD"/>
                </a:solidFill>
                <a:latin typeface="Microsoft YaHei"/>
                <a:ea typeface="Microsoft YaHei"/>
                <a:cs typeface="Microsoft YaHei"/>
              </a:rPr>
              <a:t>Accuracy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2325" b="1">
                <a:solidFill>
                  <a:srgbClr val="93C5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93C5FD"/>
                </a:solidFill>
                <a:latin typeface="Microsoft YaHei"/>
                <a:ea typeface="Microsoft YaHei"/>
                <a:cs typeface="Microsoft YaHei"/>
              </a:rPr>
              <a:t>weighted-F1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535D94-6925-407D-A591-84973BE2A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143250"/>
            <a:ext cx="1143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52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2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+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44A1A7-19E9-4FCD-985F-D54D901B1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47850"/>
            <a:ext cx="314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安全门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749C77-AA94-4A1A-8F07-C3EA752FB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476500"/>
            <a:ext cx="438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650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rPr>
              <a:t>回答：使用历史会不会伤害当前判断？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3B2132-4CE8-44CA-96DF-71A5AD11C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219450"/>
            <a:ext cx="4000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2325" b="1">
                <a:solidFill>
                  <a:srgbClr val="5EEA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5EEAD4"/>
                </a:solidFill>
                <a:latin typeface="Microsoft YaHei"/>
                <a:ea typeface="Microsoft YaHei"/>
                <a:cs typeface="Microsoft YaHei"/>
              </a:rPr>
              <a:t>harm rate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2325" b="1">
                <a:solidFill>
                  <a:srgbClr val="5EEA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5EEAD4"/>
                </a:solidFill>
                <a:latin typeface="Microsoft YaHei"/>
                <a:ea typeface="Microsoft YaHei"/>
                <a:cs typeface="Microsoft YaHei"/>
              </a:rPr>
              <a:t>p90 / CVaR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2325" b="1">
                <a:solidFill>
                  <a:srgbClr val="5EEA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5EEAD4"/>
                </a:solidFill>
                <a:latin typeface="Microsoft YaHei"/>
                <a:ea typeface="Microsoft YaHei"/>
                <a:cs typeface="Microsoft YaHei"/>
              </a:rPr>
              <a:t>risk–coverage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8323CF-6830-41D8-A2AF-976D46522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372100"/>
            <a:ext cx="94869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  <p:txBody>
          <a:bodyPr xmlns:a="http://schemas.openxmlformats.org/drawingml/2006/main" wrap="square" lIns="133350" tIns="76200" rIns="1333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只有两道门同时通过，并且至少在 2 个数据集上稳定复现，才判 GO。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62339A-81CE-4DEF-A897-CCAAE1FBE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341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975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rPr>
              <a:t>CARMA-Affect · 研究进度说明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AC69865-9EC1-4780-98F5-56013429D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51510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975" b="1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6833472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042BB11-699F-405B-BF2F-F993DBF14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125" b="1">
                <a:solidFill>
                  <a:srgbClr val="0E74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E7490"/>
                </a:solidFill>
                <a:latin typeface="Microsoft YaHei"/>
                <a:ea typeface="Microsoft YaHei"/>
                <a:cs typeface="Microsoft YaHei"/>
              </a:rPr>
              <a:t>当前进度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47895E-9F7F-4EB0-BF63-78EECFECA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0960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30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方法路线已经搭好，但新方法还没有被证明成功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3D1541-10C1-470C-8D27-DD572DB6B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3825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849C62-8837-445E-97F4-486A9039A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638300"/>
            <a:ext cx="1101090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0FDF4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FA28E8-2DD3-43E6-90B9-ED7EA7F86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638300"/>
            <a:ext cx="1333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03D"/>
          </a:solidFill>
          <a:ln xmlns:a="http://schemas.openxmlformats.org/drawingml/2006/main" w="0">
            <a:solidFill>
              <a:srgbClr val="15803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3AA1FF-01D0-4F5C-AFFD-72C9C39D4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66900"/>
            <a:ext cx="1714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175" b="1">
                <a:solidFill>
                  <a:srgbClr val="1580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5803D"/>
                </a:solidFill>
                <a:latin typeface="Microsoft YaHei"/>
                <a:ea typeface="Microsoft YaHei"/>
                <a:cs typeface="Microsoft YaHei"/>
              </a:rPr>
              <a:t>已完成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94009B-14DE-46BF-91E5-1FD6BDC37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1847850"/>
            <a:ext cx="8420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7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MELD / EmotionTalk 负迁移复现；新流程、双向效用和 3×3 接口完成；41 项测试通过。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58AD7B-F520-4C04-A7F6-0DBA6A36F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76550"/>
            <a:ext cx="1101090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EF2F2"/>
          </a:solidFill>
          <a:ln xmlns:a="http://schemas.openxmlformats.org/drawingml/2006/main" w="9525">
            <a:solidFill>
              <a:srgbClr val="DC262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E770C0-49A3-4B53-8EB6-A54D77324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76550"/>
            <a:ext cx="1333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solidFill>
              <a:srgbClr val="DC262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205C040-5BF4-4530-82A3-C5E7EDBDE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05150"/>
            <a:ext cx="1714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175" b="1">
                <a:solidFill>
                  <a:srgbClr val="DC26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DC2626"/>
                </a:solidFill>
                <a:latin typeface="Microsoft YaHei"/>
                <a:ea typeface="Microsoft YaHei"/>
                <a:cs typeface="Microsoft YaHei"/>
              </a:rPr>
              <a:t>已否证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2C1D6D2-AF8B-4E78-8142-2FFED8B8C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3086100"/>
            <a:ext cx="8420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7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旧 q90 安全门和端点 hurdle 没有过门；无效 float32 缓存已经隔离，不能当成功结果。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BF54DC9-139F-43FD-B89F-C600895D5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114800"/>
            <a:ext cx="1101090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ECFEFF"/>
          </a:solidFill>
          <a:ln xmlns:a="http://schemas.openxmlformats.org/drawingml/2006/main" w="9525">
            <a:solidFill>
              <a:srgbClr val="0E749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38D5783-C30F-4DE3-A2C1-D667D7BDB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114800"/>
            <a:ext cx="1333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490"/>
          </a:solidFill>
          <a:ln xmlns:a="http://schemas.openxmlformats.org/drawingml/2006/main" w="0">
            <a:solidFill>
              <a:srgbClr val="0E749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C538075-93E0-448B-9A71-79D42E07B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43400"/>
            <a:ext cx="1714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175" b="1">
                <a:solidFill>
                  <a:srgbClr val="0E74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0E7490"/>
                </a:solidFill>
                <a:latin typeface="Microsoft YaHei"/>
                <a:ea typeface="Microsoft YaHei"/>
                <a:cs typeface="Microsoft YaHei"/>
              </a:rPr>
              <a:t>正在做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7548B30-AD64-4767-A389-B068FE11C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4324350"/>
            <a:ext cx="8420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7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生成不同集合的 train-only OOF 概率，比较双向、单向、情感约束和 3×3 关系。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0435EB6-53D5-4FAD-B3DD-C57A41E02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505450"/>
            <a:ext cx="1009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7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现在可以说：问题真实、研究合同和核心接口已完成。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7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现在不能说：新方法已经提高准确率或已经通过测试集。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FF5AA02-D242-456A-AFC8-976DAF475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341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975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CARMA-Affect · 研究进度说明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642D6C5-C219-472E-912C-4E509674E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51510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975" b="1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01911636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2026-08-08T05:04:04.9820000Z</dcterms:created>
  <dcterms:modified xsi:type="dcterms:W3CDTF">2026-08-08T05:04:04.9820000Z</dcterms:modified>
</coreProperties>
</file>